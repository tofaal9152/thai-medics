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5e047b8-5fe4-dbd5-6004-c0f9adb139d1}">
          <p14:sldIdLst>
            <p14:sldId id="256"/>
            <p14:sldId id="257"/>
          </p14:sldIdLst>
        </p14:section>
        <p14:section name="Modules today" id="{070c69fa-47ca-7f0a-fa2c-b54d00fc2f9d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User flow" id="{79548a03-6d14-c6b5-5266-b769858cfe71}">
          <p14:sldIdLst>
            <p14:sldId id="265"/>
            <p14:sldId id="266"/>
            <p14:sldId id="267"/>
            <p14:sldId id="268"/>
          </p14:sldIdLst>
        </p14:section>
        <p14:section name="Recommended modules" id="{6c5f9161-f904-9d5a-78a8-ab0d07176cc8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Next steps" id="{73711424-a967-c089-6223-02590ea89d40}">
          <p14:sldIdLst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Thai Medical Desk is the internal system for Thai Medics: it takes a patient from Bangladesh from first inquiry to treatment in Thailand. Today we walk through the prototype, the user flow, and the modules we recommend adding.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is used by four groups: the Bangladesh office, the Thailand office, accounts and management. The numbers on the right summarise the scope of the prototype.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one: the modules that already exist in the prototype.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screens in the left menu. Everything revolves around the patient case, which opens into seven tabs, shown in the pink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is the coordinator's start page: overdue and today's tasks first. Patient cases is the searchable list of every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case shows where it sits in the eight stages, with buttons to move forward or back. The seven tabs hold everything about the patient.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calendar brings tasks, hospital appointments and flights together so nothing is missed.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money entry is tied to the case ID. Six charge types with built-in calculations, a clear quote-to-receipt flow, and nothing is ever deleted: corrections are reversals.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Access is built from 13 permissions. Roles are templates: Admin, Manager, Accounts, Coordinator and View only. Every change is written to the audit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two: how a case moves through the system and how each team works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case moves forward one stage at a time. The Bangladesh team owns it end to end; the Thailand office joins at hospital review; accounts starts billing once the appointment is confirmed.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loop repeats for each case. Handover notes keep the Dhaka and Bangkok teams in sync.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team has a clear slice of the journey; permissions match these responsibilities.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three: the modules we recommend adding, why, and in what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everyday gaps where staff still rely on WhatsApp, spreadsheets and memory. Each maps to a proposed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Twelve modules grouped into four pillars. The next slides go through each pillar in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Hospitals and doctors become structured lists rather than free text. That unlocks sending a case to several hospitals and comparing their replies.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Agents are a major source of patients. Recording who referred each patient lets commission be calculated automatically and gives agents a self-view of their referrals.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Pillar two covers the patient's side of the journey: every lead captured, visas managed with checklists, and a portal so families can see progress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Pillar three makes delivery consistent: packages and quote comparison, a single place for supplier rates, and structured on-the-ground services in Thailand.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Pillar four keeps the relationship going after treatment and gives management the numbers: conversion, revenue and profit by hospital, agent and package.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eight stages stay, with one new Visa stage between appointment and travel. Each new module attaches to the stage where it is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 changes to existing screens that deliver value immediately, before the larger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target picture: outside parties feed one shared case, worked by four internal teams, with the twelve new modules around the core built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suggested order. Wave 1 adds the partner data, hospitals, doctors and agents, plus the visa desk. Waves 2 and 3 build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Proposed next steps: validate the prototype with staff, agree the module list and priority, then design the Wave 1 screens.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TM_CONTENT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TM_SECTION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TM_DARK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M_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ghost-Programming-Web-thaiMedics/a31d3b18-7cff-49d8-bfc3-4f872109e82c/scratchpad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384048"/>
            <a:ext cx="1014984" cy="4718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46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Thai Medical Desk  ·  Prototype review &amp; roadmap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" y="384048"/>
            <a:ext cx="9692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B92F6E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457200" y="658368"/>
            <a:ext cx="100584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1E2433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M_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ghost-Programming-Web-thaiMedics/a31d3b18-7cff-49d8-bfc3-4f872109e82c/scratchpad/asse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89320"/>
            <a:ext cx="1060704" cy="493776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417320"/>
            <a:ext cx="3657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600" b="1" dirty="0">
                <a:solidFill>
                  <a:srgbClr val="B92F6E"/>
                </a:solidFill>
              </a:defRPr>
            </a:lvl1pPr>
          </a:lstStyle>
          <a:p>
            <a:pPr algn="l" indent="0" marL="0">
              <a:buNone/>
            </a:pPr>
            <a:endParaRPr lang="en-US" sz="96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40080" y="278892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40080" y="384048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1E3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M_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487168"/>
            <a:ext cx="5943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image" Target="../media/image-20-12.png"/><Relationship Id="rId13" Type="http://schemas.openxmlformats.org/officeDocument/2006/relationships/image" Target="../media/image-20-13.png"/><Relationship Id="rId14" Type="http://schemas.openxmlformats.org/officeDocument/2006/relationships/image" Target="../media/image-20-14.png"/><Relationship Id="rId15" Type="http://schemas.openxmlformats.org/officeDocument/2006/relationships/image" Target="../media/image-20-15.pn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image" Target="../media/image-24-9.png"/><Relationship Id="rId10" Type="http://schemas.openxmlformats.org/officeDocument/2006/relationships/image" Target="../media/image-24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image" Target="../media/image-25-9.png"/><Relationship Id="rId10" Type="http://schemas.openxmlformats.org/officeDocument/2006/relationships/image" Target="../media/image-25-10.png"/><Relationship Id="rId11" Type="http://schemas.openxmlformats.org/officeDocument/2006/relationships/image" Target="../media/image-25-11.png"/><Relationship Id="rId12" Type="http://schemas.openxmlformats.org/officeDocument/2006/relationships/image" Target="../media/image-25-12.png"/><Relationship Id="rId13" Type="http://schemas.openxmlformats.org/officeDocument/2006/relationships/image" Target="../media/image-25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ghost-Programming-Web-thaiMedics/a31d3b18-7cff-49d8-bfc3-4f872109e82c/scratchpad/asse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85800"/>
            <a:ext cx="1737360" cy="80741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1031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9BC3"/>
                </a:solidFill>
              </a:rPr>
              <a:t>MEDICAL TOURISM  ·  BANGLADESH ⇄ THAILAND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248716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Thai Medical Desk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52044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9D1E3"/>
                </a:solidFill>
              </a:rPr>
              <a:t>Prototype walkthrough, user flow and the modules to build next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640080" y="4754880"/>
            <a:ext cx="1783080" cy="402336"/>
          </a:xfrm>
          <a:prstGeom prst="roundRect">
            <a:avLst>
              <a:gd name="adj" fmla="val 50000"/>
            </a:avLst>
          </a:prstGeom>
          <a:solidFill>
            <a:srgbClr val="B92F6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475488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 modules today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87752" y="4754880"/>
            <a:ext cx="1783080" cy="402336"/>
          </a:xfrm>
          <a:prstGeom prst="roundRect">
            <a:avLst>
              <a:gd name="adj" fmla="val 50000"/>
            </a:avLst>
          </a:prstGeom>
          <a:solidFill>
            <a:srgbClr val="3566A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587752" y="475488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8-stage journey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35424" y="4754880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35424" y="475488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12 modules proposed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6080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E3"/>
                </a:solidFill>
              </a:rPr>
              <a:t>October 2026</a:t>
            </a:r>
            <a:endParaRPr lang="en-US" sz="1100" dirty="0"/>
          </a:p>
        </p:txBody>
      </p:sp>
      <p:pic>
        <p:nvPicPr>
          <p:cNvPr id="13" name="Image 1" descr="/private/tmp/claude-501/-Users-ghost-Programming-Web-thaiMedics/a31d3b18-7cff-49d8-bfc3-4f872109e82c/scratchpad/assets/dash_fu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051560"/>
            <a:ext cx="6126480" cy="3696919"/>
          </a:xfrm>
          <a:prstGeom prst="rect">
            <a:avLst/>
          </a:prstGeom>
          <a:effectLst>
            <a:outerShdw sx="100000" sy="100000" kx="0" ky="0" algn="bl" rotWithShape="0" blurRad="304800" dist="101600" dir="5400000">
              <a:srgbClr val="000000">
                <a:alpha val="35000"/>
              </a:srgbClr>
            </a:outerShdw>
          </a:effectLst>
        </p:spPr>
      </p:pic>
      <p:pic>
        <p:nvPicPr>
          <p:cNvPr id="14" name="Image 2" descr="/private/tmp/claude-501/-Users-ghost-Programming-Web-thaiMedics/a31d3b18-7cff-49d8-bfc3-4f872109e82c/scratchpad/assets/cal_m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206240"/>
            <a:ext cx="3108960" cy="1665122"/>
          </a:xfrm>
          <a:prstGeom prst="rect">
            <a:avLst/>
          </a:prstGeom>
          <a:effectLst>
            <a:outerShdw sx="100000" sy="100000" kx="0" ky="0" algn="bl" rotWithShape="0" blurRad="304800" dist="101600" dir="54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3840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92F6E"/>
                </a:solidFill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433"/>
                </a:solidFill>
              </a:rPr>
              <a:t>One shared desk for every patient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206240" cy="4663440"/>
          </a:xfrm>
          <a:prstGeom prst="roundRect">
            <a:avLst>
              <a:gd name="adj" fmla="val 3043"/>
            </a:avLst>
          </a:prstGeom>
          <a:solidFill>
            <a:srgbClr val="1B2440"/>
          </a:solidFill>
          <a:ln/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9BC3"/>
                </a:solidFill>
              </a:rPr>
              <a:t>WHAT IT IS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 case-management and billing desk for bringing patients from Bangladesh to hospitals in Thailand.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520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9BC3"/>
                </a:solidFill>
              </a:rPr>
              <a:t>WHO USES 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3886200"/>
            <a:ext cx="420624" cy="420624"/>
          </a:xfrm>
          <a:prstGeom prst="ellipse">
            <a:avLst/>
          </a:prstGeom>
          <a:solidFill>
            <a:srgbClr val="B92F6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3991356"/>
            <a:ext cx="210312" cy="21031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25880" y="386791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Bangladesh office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410565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E3"/>
                </a:solidFill>
              </a:rPr>
              <a:t>Intake, reports, family contact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77240" y="4453128"/>
            <a:ext cx="420624" cy="420624"/>
          </a:xfrm>
          <a:prstGeom prst="ellipse">
            <a:avLst/>
          </a:prstGeom>
          <a:solidFill>
            <a:srgbClr val="B92F6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4558284"/>
            <a:ext cx="210312" cy="21031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325880" y="44348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Thailand office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1325880" y="46725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E3"/>
                </a:solidFill>
              </a:rPr>
              <a:t>Hospitals, travel, on the ground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77240" y="5020056"/>
            <a:ext cx="420624" cy="420624"/>
          </a:xfrm>
          <a:prstGeom prst="ellipse">
            <a:avLst/>
          </a:prstGeom>
          <a:solidFill>
            <a:srgbClr val="B92F6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" y="5125212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25880" y="500176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Accounts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1325880" y="523951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E3"/>
                </a:solidFill>
              </a:rPr>
              <a:t>Quotes, invoices, payments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777240" y="5586984"/>
            <a:ext cx="420624" cy="420624"/>
          </a:xfrm>
          <a:prstGeom prst="ellipse">
            <a:avLst/>
          </a:prstGeom>
          <a:solidFill>
            <a:srgbClr val="B92F6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5692140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25880" y="556869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Management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1325880" y="5806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E3"/>
                </a:solidFill>
              </a:rPr>
              <a:t>Oversight, staff, audit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892040" y="1600200"/>
            <a:ext cx="1539164" cy="2217420"/>
          </a:xfrm>
          <a:prstGeom prst="roundRect">
            <a:avLst>
              <a:gd name="adj" fmla="val 8317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120640" y="1828800"/>
            <a:ext cx="475488" cy="475488"/>
          </a:xfrm>
          <a:prstGeom prst="ellipse">
            <a:avLst/>
          </a:prstGeom>
          <a:solidFill>
            <a:srgbClr val="FBEAF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9512" y="1947672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120640" y="2423160"/>
            <a:ext cx="11734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B92F6E"/>
                </a:solidFill>
              </a:rPr>
              <a:t>8</a:t>
            </a:r>
            <a:endParaRPr lang="en-US" sz="4000" dirty="0"/>
          </a:p>
        </p:txBody>
      </p:sp>
      <p:sp>
        <p:nvSpPr>
          <p:cNvPr id="28" name="Text 21"/>
          <p:cNvSpPr txBox="1"/>
          <p:nvPr/>
        </p:nvSpPr>
        <p:spPr>
          <a:xfrm>
            <a:off x="5120640" y="3154680"/>
            <a:ext cx="1173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Case stages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659804" y="1600200"/>
            <a:ext cx="1539164" cy="2217420"/>
          </a:xfrm>
          <a:prstGeom prst="roundRect">
            <a:avLst>
              <a:gd name="adj" fmla="val 8317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888404" y="1828800"/>
            <a:ext cx="475488" cy="475488"/>
          </a:xfrm>
          <a:prstGeom prst="ellipse">
            <a:avLst/>
          </a:prstGeom>
          <a:solidFill>
            <a:srgbClr val="E9F0F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7276" y="1947672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888404" y="2423160"/>
            <a:ext cx="11734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3566AC"/>
                </a:solidFill>
              </a:rPr>
              <a:t>7</a:t>
            </a:r>
            <a:endParaRPr lang="en-US" sz="4000" dirty="0"/>
          </a:p>
        </p:txBody>
      </p:sp>
      <p:sp>
        <p:nvSpPr>
          <p:cNvPr id="33" name="Text 25"/>
          <p:cNvSpPr txBox="1"/>
          <p:nvPr/>
        </p:nvSpPr>
        <p:spPr>
          <a:xfrm>
            <a:off x="6888404" y="3154680"/>
            <a:ext cx="1173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Main screens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8427568" y="1600200"/>
            <a:ext cx="1539164" cy="2217420"/>
          </a:xfrm>
          <a:prstGeom prst="roundRect">
            <a:avLst>
              <a:gd name="adj" fmla="val 8317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656168" y="1828800"/>
            <a:ext cx="475488" cy="475488"/>
          </a:xfrm>
          <a:prstGeom prst="ellipse">
            <a:avLst/>
          </a:prstGeom>
          <a:solidFill>
            <a:srgbClr val="E3F3F6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5040" y="1947672"/>
            <a:ext cx="237744" cy="237744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8656168" y="2423160"/>
            <a:ext cx="11734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E7490"/>
                </a:solidFill>
              </a:rPr>
              <a:t>7</a:t>
            </a:r>
            <a:endParaRPr lang="en-US" sz="4000" dirty="0"/>
          </a:p>
        </p:txBody>
      </p:sp>
      <p:sp>
        <p:nvSpPr>
          <p:cNvPr id="38" name="Text 29"/>
          <p:cNvSpPr txBox="1"/>
          <p:nvPr/>
        </p:nvSpPr>
        <p:spPr>
          <a:xfrm>
            <a:off x="8656168" y="3154680"/>
            <a:ext cx="1173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Tabs in every case</a:t>
            </a:r>
            <a:endParaRPr lang="en-US" sz="1150" dirty="0"/>
          </a:p>
        </p:txBody>
      </p:sp>
      <p:sp>
        <p:nvSpPr>
          <p:cNvPr id="39" name="Shape 30"/>
          <p:cNvSpPr/>
          <p:nvPr/>
        </p:nvSpPr>
        <p:spPr>
          <a:xfrm>
            <a:off x="10195331" y="1600200"/>
            <a:ext cx="1539164" cy="2217420"/>
          </a:xfrm>
          <a:prstGeom prst="roundRect">
            <a:avLst>
              <a:gd name="adj" fmla="val 8317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10423931" y="1828800"/>
            <a:ext cx="475488" cy="475488"/>
          </a:xfrm>
          <a:prstGeom prst="ellipse">
            <a:avLst/>
          </a:prstGeom>
          <a:solidFill>
            <a:srgbClr val="F1EBFE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42803" y="1947672"/>
            <a:ext cx="237744" cy="237744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10423931" y="2423160"/>
            <a:ext cx="11734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7C3AED"/>
                </a:solidFill>
              </a:rPr>
              <a:t>5</a:t>
            </a:r>
            <a:endParaRPr lang="en-US" sz="4000" dirty="0"/>
          </a:p>
        </p:txBody>
      </p:sp>
      <p:sp>
        <p:nvSpPr>
          <p:cNvPr id="43" name="Text 33"/>
          <p:cNvSpPr txBox="1"/>
          <p:nvPr/>
        </p:nvSpPr>
        <p:spPr>
          <a:xfrm>
            <a:off x="10423931" y="3154680"/>
            <a:ext cx="1173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Role templates</a:t>
            </a:r>
            <a:endParaRPr lang="en-US" sz="1150" dirty="0"/>
          </a:p>
        </p:txBody>
      </p:sp>
      <p:sp>
        <p:nvSpPr>
          <p:cNvPr id="44" name="Shape 34"/>
          <p:cNvSpPr/>
          <p:nvPr/>
        </p:nvSpPr>
        <p:spPr>
          <a:xfrm>
            <a:off x="4892040" y="4046220"/>
            <a:ext cx="1539164" cy="2217420"/>
          </a:xfrm>
          <a:prstGeom prst="roundRect">
            <a:avLst>
              <a:gd name="adj" fmla="val 8317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5120640" y="4274820"/>
            <a:ext cx="475488" cy="475488"/>
          </a:xfrm>
          <a:prstGeom prst="ellipse">
            <a:avLst/>
          </a:prstGeom>
          <a:solidFill>
            <a:srgbClr val="FDF4E3"/>
          </a:solidFill>
          <a:ln/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9512" y="4393692"/>
            <a:ext cx="237744" cy="237744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5120640" y="4869180"/>
            <a:ext cx="11734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B7791F"/>
                </a:solidFill>
              </a:rPr>
              <a:t>13</a:t>
            </a:r>
            <a:endParaRPr lang="en-US" sz="4000" dirty="0"/>
          </a:p>
        </p:txBody>
      </p:sp>
      <p:sp>
        <p:nvSpPr>
          <p:cNvPr id="48" name="Text 37"/>
          <p:cNvSpPr txBox="1"/>
          <p:nvPr/>
        </p:nvSpPr>
        <p:spPr>
          <a:xfrm>
            <a:off x="5120640" y="5600700"/>
            <a:ext cx="1173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Individual permissions</a:t>
            </a:r>
            <a:endParaRPr lang="en-US" sz="1150" dirty="0"/>
          </a:p>
        </p:txBody>
      </p:sp>
      <p:sp>
        <p:nvSpPr>
          <p:cNvPr id="49" name="Shape 38"/>
          <p:cNvSpPr/>
          <p:nvPr/>
        </p:nvSpPr>
        <p:spPr>
          <a:xfrm>
            <a:off x="6659804" y="4046220"/>
            <a:ext cx="1539164" cy="2217420"/>
          </a:xfrm>
          <a:prstGeom prst="roundRect">
            <a:avLst>
              <a:gd name="adj" fmla="val 8317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50" name="Shape 39"/>
          <p:cNvSpPr/>
          <p:nvPr/>
        </p:nvSpPr>
        <p:spPr>
          <a:xfrm>
            <a:off x="6888404" y="4274820"/>
            <a:ext cx="475488" cy="475488"/>
          </a:xfrm>
          <a:prstGeom prst="ellipse">
            <a:avLst/>
          </a:prstGeom>
          <a:solidFill>
            <a:srgbClr val="FBEAF2"/>
          </a:solidFill>
          <a:ln/>
        </p:spPr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07276" y="4393692"/>
            <a:ext cx="237744" cy="237744"/>
          </a:xfrm>
          <a:prstGeom prst="rect">
            <a:avLst/>
          </a:prstGeom>
        </p:spPr>
      </p:pic>
      <p:sp>
        <p:nvSpPr>
          <p:cNvPr id="52" name="Text 40"/>
          <p:cNvSpPr txBox="1"/>
          <p:nvPr/>
        </p:nvSpPr>
        <p:spPr>
          <a:xfrm>
            <a:off x="6888404" y="4869180"/>
            <a:ext cx="11734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B92F6E"/>
                </a:solidFill>
              </a:rPr>
              <a:t>6</a:t>
            </a:r>
            <a:endParaRPr lang="en-US" sz="4000" dirty="0"/>
          </a:p>
        </p:txBody>
      </p:sp>
      <p:sp>
        <p:nvSpPr>
          <p:cNvPr id="53" name="Text 41"/>
          <p:cNvSpPr txBox="1"/>
          <p:nvPr/>
        </p:nvSpPr>
        <p:spPr>
          <a:xfrm>
            <a:off x="6888404" y="5600700"/>
            <a:ext cx="1173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Charge types</a:t>
            </a:r>
            <a:endParaRPr lang="en-US" sz="1150" dirty="0"/>
          </a:p>
        </p:txBody>
      </p:sp>
      <p:sp>
        <p:nvSpPr>
          <p:cNvPr id="54" name="Shape 42"/>
          <p:cNvSpPr/>
          <p:nvPr/>
        </p:nvSpPr>
        <p:spPr>
          <a:xfrm>
            <a:off x="8427568" y="4046220"/>
            <a:ext cx="1539164" cy="2217420"/>
          </a:xfrm>
          <a:prstGeom prst="roundRect">
            <a:avLst>
              <a:gd name="adj" fmla="val 8317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55" name="Shape 43"/>
          <p:cNvSpPr/>
          <p:nvPr/>
        </p:nvSpPr>
        <p:spPr>
          <a:xfrm>
            <a:off x="8656168" y="4274820"/>
            <a:ext cx="475488" cy="475488"/>
          </a:xfrm>
          <a:prstGeom prst="ellipse">
            <a:avLst/>
          </a:prstGeom>
          <a:solidFill>
            <a:srgbClr val="E9F0FA"/>
          </a:solidFill>
          <a:ln/>
        </p:spPr>
      </p:sp>
      <p:pic>
        <p:nvPicPr>
          <p:cNvPr id="5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75040" y="4393692"/>
            <a:ext cx="237744" cy="237744"/>
          </a:xfrm>
          <a:prstGeom prst="rect">
            <a:avLst/>
          </a:prstGeom>
        </p:spPr>
      </p:pic>
      <p:sp>
        <p:nvSpPr>
          <p:cNvPr id="57" name="Text 44"/>
          <p:cNvSpPr txBox="1"/>
          <p:nvPr/>
        </p:nvSpPr>
        <p:spPr>
          <a:xfrm>
            <a:off x="8656168" y="4869180"/>
            <a:ext cx="11734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3566AC"/>
                </a:solidFill>
              </a:rPr>
              <a:t>3</a:t>
            </a:r>
            <a:endParaRPr lang="en-US" sz="4000" dirty="0"/>
          </a:p>
        </p:txBody>
      </p:sp>
      <p:sp>
        <p:nvSpPr>
          <p:cNvPr id="58" name="Text 45"/>
          <p:cNvSpPr txBox="1"/>
          <p:nvPr/>
        </p:nvSpPr>
        <p:spPr>
          <a:xfrm>
            <a:off x="8656168" y="5600700"/>
            <a:ext cx="1173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Currencies: BDT · THB · USD</a:t>
            </a:r>
            <a:endParaRPr lang="en-US" sz="1150" dirty="0"/>
          </a:p>
        </p:txBody>
      </p:sp>
      <p:sp>
        <p:nvSpPr>
          <p:cNvPr id="59" name="Shape 46"/>
          <p:cNvSpPr/>
          <p:nvPr/>
        </p:nvSpPr>
        <p:spPr>
          <a:xfrm>
            <a:off x="10195331" y="4046220"/>
            <a:ext cx="1539164" cy="2217420"/>
          </a:xfrm>
          <a:prstGeom prst="roundRect">
            <a:avLst>
              <a:gd name="adj" fmla="val 8317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60" name="Shape 47"/>
          <p:cNvSpPr/>
          <p:nvPr/>
        </p:nvSpPr>
        <p:spPr>
          <a:xfrm>
            <a:off x="10423931" y="4274820"/>
            <a:ext cx="475488" cy="475488"/>
          </a:xfrm>
          <a:prstGeom prst="ellipse">
            <a:avLst/>
          </a:prstGeom>
          <a:solidFill>
            <a:srgbClr val="E7F5EC"/>
          </a:solidFill>
          <a:ln/>
        </p:spPr>
      </p:sp>
      <p:pic>
        <p:nvPicPr>
          <p:cNvPr id="6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42803" y="4393692"/>
            <a:ext cx="237744" cy="237744"/>
          </a:xfrm>
          <a:prstGeom prst="rect">
            <a:avLst/>
          </a:prstGeom>
        </p:spPr>
      </p:pic>
      <p:sp>
        <p:nvSpPr>
          <p:cNvPr id="62" name="Text 48"/>
          <p:cNvSpPr txBox="1"/>
          <p:nvPr/>
        </p:nvSpPr>
        <p:spPr>
          <a:xfrm>
            <a:off x="10423931" y="4869180"/>
            <a:ext cx="11734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5803D"/>
                </a:solidFill>
              </a:rPr>
              <a:t>2</a:t>
            </a:r>
            <a:endParaRPr lang="en-US" sz="4000" dirty="0"/>
          </a:p>
        </p:txBody>
      </p:sp>
      <p:sp>
        <p:nvSpPr>
          <p:cNvPr id="63" name="Text 49"/>
          <p:cNvSpPr txBox="1"/>
          <p:nvPr/>
        </p:nvSpPr>
        <p:spPr>
          <a:xfrm>
            <a:off x="10423931" y="5600700"/>
            <a:ext cx="1173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Languages: Bangla · English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78163" y="1508760"/>
            <a:ext cx="1228954" cy="3840480"/>
          </a:xfrm>
          <a:prstGeom prst="rect">
            <a:avLst/>
          </a:prstGeom>
          <a:solidFill>
            <a:srgbClr val="B92F6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814523"/>
            <a:ext cx="3840480" cy="1228954"/>
          </a:xfrm>
          <a:prstGeom prst="rect">
            <a:avLst/>
          </a:prstGeom>
          <a:solidFill>
            <a:srgbClr val="B92F6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162995" y="457200"/>
            <a:ext cx="351130" cy="1097280"/>
          </a:xfrm>
          <a:prstGeom prst="rect">
            <a:avLst/>
          </a:prstGeom>
          <a:solidFill>
            <a:srgbClr val="B92F6E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0" y="830275"/>
            <a:ext cx="1097280" cy="351130"/>
          </a:xfrm>
          <a:prstGeom prst="rect">
            <a:avLst/>
          </a:prstGeom>
          <a:solidFill>
            <a:srgbClr val="B92F6E">
              <a:alpha val="30000"/>
            </a:srgbClr>
          </a:solidFill>
          <a:ln/>
        </p:spPr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640080" y="14173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B92F6E"/>
                </a:solidFill>
              </a:rPr>
              <a:t>01</a:t>
            </a:r>
            <a:endParaRPr lang="en-US" sz="9600" dirty="0"/>
          </a:p>
        </p:txBody>
      </p:sp>
      <p:sp>
        <p:nvSpPr>
          <p:cNvPr id="7" name="Text 0"/>
          <p:cNvSpPr/>
          <p:nvPr>
            <p:ph idx="102" type="title" hasCustomPrompt="1"/>
          </p:nvPr>
        </p:nvSpPr>
        <p:spPr>
          <a:xfrm>
            <a:off x="640080" y="27889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What's built today</a:t>
            </a:r>
            <a:endParaRPr lang="en-US" sz="4800" dirty="0"/>
          </a:p>
        </p:txBody>
      </p:sp>
      <p:sp>
        <p:nvSpPr>
          <p:cNvPr id="8" name="Text 0"/>
          <p:cNvSpPr/>
          <p:nvPr>
            <p:ph idx="103" type="body" hasCustomPrompt="1"/>
          </p:nvPr>
        </p:nvSpPr>
        <p:spPr>
          <a:xfrm>
            <a:off x="640080" y="3840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1E3"/>
                </a:solidFill>
              </a:rPr>
              <a:t>The seven modules of the working prototype and what each one does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3840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92F6E"/>
                </a:solidFill>
              </a:rPr>
              <a:t>MODULES TODAY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433"/>
                </a:solidFill>
              </a:rPr>
              <a:t>Seven screens around one patient case file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647874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828800"/>
            <a:ext cx="566928" cy="566928"/>
          </a:xfrm>
          <a:prstGeom prst="ellipse">
            <a:avLst/>
          </a:prstGeom>
          <a:solidFill>
            <a:srgbClr val="FBEAF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" y="1970532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514600"/>
            <a:ext cx="22363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433"/>
                </a:solidFill>
              </a:rPr>
              <a:t>Dashboard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880360"/>
            <a:ext cx="22363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Active cases, today's and overdue follow-ups, next 30 days of appointments, cases by stage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3674" y="1600200"/>
            <a:ext cx="2647874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62274" y="1828800"/>
            <a:ext cx="566928" cy="566928"/>
          </a:xfrm>
          <a:prstGeom prst="ellipse">
            <a:avLst/>
          </a:prstGeom>
          <a:solidFill>
            <a:srgbClr val="E9F0F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006" y="197053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2274" y="2514600"/>
            <a:ext cx="22363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433"/>
                </a:solidFill>
              </a:rPr>
              <a:t>Patient cases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562274" y="2880360"/>
            <a:ext cx="22363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Search by name, case ID, phone or hospital; filter by stage, coordinator and office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0148" y="1600200"/>
            <a:ext cx="2647874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38748" y="1828800"/>
            <a:ext cx="566928" cy="566928"/>
          </a:xfrm>
          <a:prstGeom prst="ellipse">
            <a:avLst/>
          </a:prstGeom>
          <a:solidFill>
            <a:srgbClr val="E3F3F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480" y="1970532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38748" y="2514600"/>
            <a:ext cx="22363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433"/>
                </a:solidFill>
              </a:rPr>
              <a:t>Follow-up calendar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438748" y="2880360"/>
            <a:ext cx="22363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Month and list views of tasks, appointments, arrivals and departures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86621" y="1600200"/>
            <a:ext cx="2647874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15221" y="1828800"/>
            <a:ext cx="566928" cy="566928"/>
          </a:xfrm>
          <a:prstGeom prst="ellipse">
            <a:avLst/>
          </a:prstGeom>
          <a:solidFill>
            <a:srgbClr val="FDF4E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6953" y="1970532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15221" y="2514600"/>
            <a:ext cx="22363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433"/>
                </a:solidFill>
              </a:rPr>
              <a:t>Accounts &amp; billing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315221" y="2880360"/>
            <a:ext cx="22363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Patient accounts, quotations, invoices, receipts, supplier balances and profit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4069080"/>
            <a:ext cx="2647874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85800" y="4297680"/>
            <a:ext cx="566928" cy="566928"/>
          </a:xfrm>
          <a:prstGeom prst="ellipse">
            <a:avLst/>
          </a:prstGeom>
          <a:solidFill>
            <a:srgbClr val="F1EBF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" y="4439412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85800" y="4983480"/>
            <a:ext cx="22363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433"/>
                </a:solidFill>
              </a:rPr>
              <a:t>Staff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685800" y="5349240"/>
            <a:ext cx="22363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Add, approve and deactivate staff; set permissions in a matrix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3333674" y="4069080"/>
            <a:ext cx="2647874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562274" y="4297680"/>
            <a:ext cx="566928" cy="566928"/>
          </a:xfrm>
          <a:prstGeom prst="ellipse">
            <a:avLst/>
          </a:prstGeom>
          <a:solidFill>
            <a:srgbClr val="E7F5EC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4006" y="4439412"/>
            <a:ext cx="283464" cy="28346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562274" y="4983480"/>
            <a:ext cx="22363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433"/>
                </a:solidFill>
              </a:rPr>
              <a:t>Audit history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3562274" y="5349240"/>
            <a:ext cx="22363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Every action logged with who did it, what changed and when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6210148" y="4069080"/>
            <a:ext cx="2647874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438748" y="4297680"/>
            <a:ext cx="566928" cy="566928"/>
          </a:xfrm>
          <a:prstGeom prst="ellipse">
            <a:avLst/>
          </a:prstGeom>
          <a:solidFill>
            <a:srgbClr val="EEF0F4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0480" y="4439412"/>
            <a:ext cx="283464" cy="283464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438748" y="4983480"/>
            <a:ext cx="22363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433"/>
                </a:solidFill>
              </a:rPr>
              <a:t>System status</a:t>
            </a:r>
            <a:endParaRPr lang="en-US" sz="1500" dirty="0"/>
          </a:p>
        </p:txBody>
      </p:sp>
      <p:sp>
        <p:nvSpPr>
          <p:cNvPr id="38" name="Text 29"/>
          <p:cNvSpPr txBox="1"/>
          <p:nvPr/>
        </p:nvSpPr>
        <p:spPr>
          <a:xfrm>
            <a:off x="6438748" y="5349240"/>
            <a:ext cx="22363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A summary of what the prototype covers, plus a demo-data reset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9086621" y="4069080"/>
            <a:ext cx="2647874" cy="2240280"/>
          </a:xfrm>
          <a:prstGeom prst="roundRect">
            <a:avLst>
              <a:gd name="adj" fmla="val 5714"/>
            </a:avLst>
          </a:prstGeom>
          <a:solidFill>
            <a:srgbClr val="B92F6E"/>
          </a:solidFill>
          <a:ln/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40" name="Text 31"/>
          <p:cNvSpPr txBox="1"/>
          <p:nvPr/>
        </p:nvSpPr>
        <p:spPr>
          <a:xfrm>
            <a:off x="9315221" y="4251960"/>
            <a:ext cx="22363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Inside every case</a:t>
            </a:r>
            <a:endParaRPr lang="en-US" sz="1500" dirty="0"/>
          </a:p>
        </p:txBody>
      </p:sp>
      <p:sp>
        <p:nvSpPr>
          <p:cNvPr id="41" name="Text 32"/>
          <p:cNvSpPr txBox="1"/>
          <p:nvPr/>
        </p:nvSpPr>
        <p:spPr>
          <a:xfrm>
            <a:off x="9315221" y="4636008"/>
            <a:ext cx="228211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"/>
              </a:spcAft>
              <a:buSzPct val="100000"/>
              <a:buChar char="+"/>
            </a:pPr>
            <a:r>
              <a:rPr lang="en-US" sz="1050" dirty="0">
                <a:solidFill>
                  <a:srgbClr val="FFFFFF"/>
                </a:solidFill>
              </a:rPr>
              <a:t>Overview</a:t>
            </a:r>
            <a:endParaRPr lang="en-US" sz="1050" dirty="0"/>
          </a:p>
          <a:p>
            <a:pPr marL="152400" indent="-152400">
              <a:spcAft>
                <a:spcPts val="100"/>
              </a:spcAft>
              <a:buSzPct val="100000"/>
              <a:buChar char="+"/>
            </a:pPr>
            <a:r>
              <a:rPr lang="en-US" sz="1050" dirty="0">
                <a:solidFill>
                  <a:srgbClr val="FFFFFF"/>
                </a:solidFill>
              </a:rPr>
              <a:t>Medical records</a:t>
            </a:r>
            <a:endParaRPr lang="en-US" sz="1050" dirty="0"/>
          </a:p>
          <a:p>
            <a:pPr marL="152400" indent="-152400">
              <a:spcAft>
                <a:spcPts val="100"/>
              </a:spcAft>
              <a:buSzPct val="100000"/>
              <a:buChar char="+"/>
            </a:pPr>
            <a:r>
              <a:rPr lang="en-US" sz="1050" dirty="0">
                <a:solidFill>
                  <a:srgbClr val="FFFFFF"/>
                </a:solidFill>
              </a:rPr>
              <a:t>Communication</a:t>
            </a:r>
            <a:endParaRPr lang="en-US" sz="1050" dirty="0"/>
          </a:p>
          <a:p>
            <a:pPr marL="152400" indent="-152400">
              <a:spcAft>
                <a:spcPts val="100"/>
              </a:spcAft>
              <a:buSzPct val="100000"/>
              <a:buChar char="+"/>
            </a:pPr>
            <a:r>
              <a:rPr lang="en-US" sz="1050" dirty="0">
                <a:solidFill>
                  <a:srgbClr val="FFFFFF"/>
                </a:solidFill>
              </a:rPr>
              <a:t>Hospital &amp; appointment</a:t>
            </a:r>
            <a:endParaRPr lang="en-US" sz="1050" dirty="0"/>
          </a:p>
          <a:p>
            <a:pPr marL="152400" indent="-152400">
              <a:spcAft>
                <a:spcPts val="100"/>
              </a:spcAft>
              <a:buSzPct val="100000"/>
              <a:buChar char="+"/>
            </a:pPr>
            <a:r>
              <a:rPr lang="en-US" sz="1050" dirty="0">
                <a:solidFill>
                  <a:srgbClr val="FFFFFF"/>
                </a:solidFill>
              </a:rPr>
              <a:t>Thailand assistance</a:t>
            </a:r>
            <a:endParaRPr lang="en-US" sz="1050" dirty="0"/>
          </a:p>
          <a:p>
            <a:pPr marL="152400" indent="-152400">
              <a:spcAft>
                <a:spcPts val="100"/>
              </a:spcAft>
              <a:buSzPct val="100000"/>
              <a:buChar char="+"/>
            </a:pPr>
            <a:r>
              <a:rPr lang="en-US" sz="1050" dirty="0">
                <a:solidFill>
                  <a:srgbClr val="FFFFFF"/>
                </a:solidFill>
              </a:rPr>
              <a:t>Follow-up tasks</a:t>
            </a:r>
            <a:endParaRPr lang="en-US" sz="1050" dirty="0"/>
          </a:p>
          <a:p>
            <a:pPr marL="152400" indent="-152400">
              <a:spcAft>
                <a:spcPts val="100"/>
              </a:spcAft>
              <a:buSzPct val="100000"/>
              <a:buChar char="+"/>
            </a:pPr>
            <a:r>
              <a:rPr lang="en-US" sz="1050" dirty="0">
                <a:solidFill>
                  <a:srgbClr val="FFFFFF"/>
                </a:solidFill>
              </a:rPr>
              <a:t>Accounts &amp; billing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3840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92F6E"/>
                </a:solidFill>
              </a:rPr>
              <a:t>MODULE  ·  DASHBOARD &amp; PATIENT CASES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433"/>
                </a:solidFill>
              </a:rPr>
              <a:t>What's due today, and any case in seconds</a:t>
            </a:r>
            <a:endParaRPr lang="en-US" sz="2600" dirty="0"/>
          </a:p>
        </p:txBody>
      </p:sp>
      <p:pic>
        <p:nvPicPr>
          <p:cNvPr id="4" name="Image 0" descr="/private/tmp/claude-501/-Users-ghost-Programming-Web-thaiMedics/a31d3b18-7cff-49d8-bfc3-4f872109e82c/scratchpad/assets/dash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6675120" cy="3864254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457200" y="571500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67085"/>
                </a:solidFill>
              </a:rPr>
              <a:t>Dashboard opens on today's priorities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406640" y="1645920"/>
            <a:ext cx="4327855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35240" y="1847088"/>
            <a:ext cx="457200" cy="457200"/>
          </a:xfrm>
          <a:prstGeom prst="ellipse">
            <a:avLst/>
          </a:prstGeom>
          <a:solidFill>
            <a:srgbClr val="FBEAF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9540" y="1961388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0" y="19202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433"/>
                </a:solidFill>
              </a:rPr>
              <a:t>Dashboard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635240" y="2450592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</a:rPr>
              <a:t>Live counters: active cases, today's follow-ups, overdue tasks, appointments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</a:rPr>
              <a:t>Stage strip jumps to a filtered case list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</a:rPr>
              <a:t>Tick off tasks; accounts summary per currency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406640" y="4023360"/>
            <a:ext cx="4327855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635240" y="4224528"/>
            <a:ext cx="457200" cy="457200"/>
          </a:xfrm>
          <a:prstGeom prst="ellipse">
            <a:avLst/>
          </a:prstGeom>
          <a:solidFill>
            <a:srgbClr val="E9F0F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540" y="4338828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229600" y="42976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433"/>
                </a:solidFill>
              </a:rPr>
              <a:t>Patient cases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635240" y="4828032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</a:rPr>
              <a:t>Search by name, case ID, phone or hospital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</a:rPr>
              <a:t>Filter by stage, coordinator and office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</a:rPr>
              <a:t>New cases get an automatic ID, e.g. TMD-2026-0008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3840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92F6E"/>
                </a:solidFill>
              </a:rPr>
              <a:t>MODULE  ·  PATIENT CASE FILE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433"/>
                </a:solidFill>
              </a:rPr>
              <a:t>One case: a stage tracker and seven tabs</a:t>
            </a:r>
            <a:endParaRPr lang="en-US" sz="2600" dirty="0"/>
          </a:p>
        </p:txBody>
      </p:sp>
      <p:pic>
        <p:nvPicPr>
          <p:cNvPr id="4" name="Image 0" descr="/private/tmp/claude-501/-Users-ghost-Programming-Web-thaiMedics/a31d3b18-7cff-49d8-bfc3-4f872109e82c/scratchpad/assets/case_he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11277295" cy="2588666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457200" y="4343400"/>
            <a:ext cx="1493476" cy="1920240"/>
          </a:xfrm>
          <a:prstGeom prst="roundRect">
            <a:avLst>
              <a:gd name="adj" fmla="val 8572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21792" y="4507992"/>
            <a:ext cx="402336" cy="402336"/>
          </a:xfrm>
          <a:prstGeom prst="ellipse">
            <a:avLst/>
          </a:prstGeom>
          <a:solidFill>
            <a:srgbClr val="FBEAF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460857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21792" y="4983480"/>
            <a:ext cx="12191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433"/>
                </a:solidFill>
              </a:rPr>
              <a:t>Overview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21792" y="5422392"/>
            <a:ext cx="12374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Patient, companion and the BD and TH coordinators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2087836" y="4343400"/>
            <a:ext cx="1493476" cy="1920240"/>
          </a:xfrm>
          <a:prstGeom prst="roundRect">
            <a:avLst>
              <a:gd name="adj" fmla="val 8572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252428" y="4507992"/>
            <a:ext cx="402336" cy="402336"/>
          </a:xfrm>
          <a:prstGeom prst="ellipse">
            <a:avLst/>
          </a:prstGeom>
          <a:solidFill>
            <a:srgbClr val="F1EBF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3012" y="4608576"/>
            <a:ext cx="201168" cy="20116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252428" y="4983480"/>
            <a:ext cx="12191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433"/>
                </a:solidFill>
              </a:rPr>
              <a:t>Medical records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2252428" y="5422392"/>
            <a:ext cx="12374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Reports by date with uploader recorded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3718473" y="4343400"/>
            <a:ext cx="1493476" cy="1920240"/>
          </a:xfrm>
          <a:prstGeom prst="roundRect">
            <a:avLst>
              <a:gd name="adj" fmla="val 8572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3883065" y="4507992"/>
            <a:ext cx="402336" cy="402336"/>
          </a:xfrm>
          <a:prstGeom prst="ellipse">
            <a:avLst/>
          </a:prstGeom>
          <a:solidFill>
            <a:srgbClr val="E9F0F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3649" y="4608576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3883065" y="4983480"/>
            <a:ext cx="12191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433"/>
                </a:solidFill>
              </a:rPr>
              <a:t>Communication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3883065" y="5422392"/>
            <a:ext cx="12374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Call, WhatsApp and email notes; next action becomes a task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5349109" y="4343400"/>
            <a:ext cx="1493476" cy="1920240"/>
          </a:xfrm>
          <a:prstGeom prst="roundRect">
            <a:avLst>
              <a:gd name="adj" fmla="val 8572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513701" y="4507992"/>
            <a:ext cx="402336" cy="402336"/>
          </a:xfrm>
          <a:prstGeom prst="ellipse">
            <a:avLst/>
          </a:prstGeom>
          <a:solidFill>
            <a:srgbClr val="E3F3F6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4285" y="4608576"/>
            <a:ext cx="201168" cy="20116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513701" y="4983480"/>
            <a:ext cx="12191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433"/>
                </a:solidFill>
              </a:rPr>
              <a:t>Hospital &amp; appointment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5513701" y="5422392"/>
            <a:ext cx="12374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Doctor, dates, proposal and days awaiting reply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6979746" y="4343400"/>
            <a:ext cx="1493476" cy="1920240"/>
          </a:xfrm>
          <a:prstGeom prst="roundRect">
            <a:avLst>
              <a:gd name="adj" fmla="val 8572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7144338" y="4507992"/>
            <a:ext cx="402336" cy="402336"/>
          </a:xfrm>
          <a:prstGeom prst="ellipse">
            <a:avLst/>
          </a:prstGeom>
          <a:solidFill>
            <a:srgbClr val="FDF4E3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4922" y="4608576"/>
            <a:ext cx="201168" cy="201168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144338" y="4983480"/>
            <a:ext cx="12191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433"/>
                </a:solidFill>
              </a:rPr>
              <a:t>Thailand assistance</a:t>
            </a:r>
            <a:endParaRPr lang="en-US" sz="1100" dirty="0"/>
          </a:p>
        </p:txBody>
      </p:sp>
      <p:sp>
        <p:nvSpPr>
          <p:cNvPr id="29" name="Text 21"/>
          <p:cNvSpPr txBox="1"/>
          <p:nvPr/>
        </p:nvSpPr>
        <p:spPr>
          <a:xfrm>
            <a:off x="7144338" y="5422392"/>
            <a:ext cx="12374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Flights, stay, transfers, interpreter, handover notes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8610382" y="4343400"/>
            <a:ext cx="1493476" cy="1920240"/>
          </a:xfrm>
          <a:prstGeom prst="roundRect">
            <a:avLst>
              <a:gd name="adj" fmla="val 8572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774974" y="4507992"/>
            <a:ext cx="402336" cy="402336"/>
          </a:xfrm>
          <a:prstGeom prst="ellipse">
            <a:avLst/>
          </a:prstGeom>
          <a:solidFill>
            <a:srgbClr val="FDEDE5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75558" y="4608576"/>
            <a:ext cx="201168" cy="201168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8774974" y="4983480"/>
            <a:ext cx="12191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433"/>
                </a:solidFill>
              </a:rPr>
              <a:t>Follow-up tasks</a:t>
            </a:r>
            <a:endParaRPr lang="en-US" sz="1100" dirty="0"/>
          </a:p>
        </p:txBody>
      </p:sp>
      <p:sp>
        <p:nvSpPr>
          <p:cNvPr id="34" name="Text 25"/>
          <p:cNvSpPr txBox="1"/>
          <p:nvPr/>
        </p:nvSpPr>
        <p:spPr>
          <a:xfrm>
            <a:off x="8774974" y="5422392"/>
            <a:ext cx="12374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Owner and due date; overdue highlighted</a:t>
            </a:r>
            <a:endParaRPr lang="en-US" sz="950" dirty="0"/>
          </a:p>
        </p:txBody>
      </p:sp>
      <p:sp>
        <p:nvSpPr>
          <p:cNvPr id="35" name="Shape 26"/>
          <p:cNvSpPr/>
          <p:nvPr/>
        </p:nvSpPr>
        <p:spPr>
          <a:xfrm>
            <a:off x="10241019" y="4343400"/>
            <a:ext cx="1493476" cy="1920240"/>
          </a:xfrm>
          <a:prstGeom prst="roundRect">
            <a:avLst>
              <a:gd name="adj" fmla="val 8572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10405611" y="4507992"/>
            <a:ext cx="402336" cy="402336"/>
          </a:xfrm>
          <a:prstGeom prst="ellipse">
            <a:avLst/>
          </a:prstGeom>
          <a:solidFill>
            <a:srgbClr val="E7F5EC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6195" y="4608576"/>
            <a:ext cx="201168" cy="201168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10405611" y="4983480"/>
            <a:ext cx="12191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433"/>
                </a:solidFill>
              </a:rPr>
              <a:t>Accounts &amp; billing</a:t>
            </a:r>
            <a:endParaRPr lang="en-US" sz="1100" dirty="0"/>
          </a:p>
        </p:txBody>
      </p:sp>
      <p:sp>
        <p:nvSpPr>
          <p:cNvPr id="39" name="Text 29"/>
          <p:cNvSpPr txBox="1"/>
          <p:nvPr/>
        </p:nvSpPr>
        <p:spPr>
          <a:xfrm>
            <a:off x="10405611" y="5422392"/>
            <a:ext cx="12374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The patient's bill, payments and documents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3840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92F6E"/>
                </a:solidFill>
              </a:rPr>
              <a:t>MODULE  ·  FOLLOW-UP CALENDAR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433"/>
                </a:solidFill>
              </a:rPr>
              <a:t>Tasks, appointments and travel in one view</a:t>
            </a:r>
            <a:endParaRPr lang="en-US" sz="2600" dirty="0"/>
          </a:p>
        </p:txBody>
      </p:sp>
      <p:pic>
        <p:nvPicPr>
          <p:cNvPr id="4" name="Image 0" descr="/private/tmp/claude-501/-Users-ghost-Programming-Web-thaiMedics/a31d3b18-7cff-49d8-bfc3-4f872109e82c/scratchpad/assets/cal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6675120" cy="3575304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457200" y="5541264"/>
            <a:ext cx="146304" cy="146304"/>
          </a:xfrm>
          <a:prstGeom prst="ellipse">
            <a:avLst/>
          </a:prstGeom>
          <a:solidFill>
            <a:srgbClr val="B92F6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76656" y="54681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3"/>
                </a:solidFill>
              </a:rPr>
              <a:t>Task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517904" y="5541264"/>
            <a:ext cx="146304" cy="146304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737360" y="5468112"/>
            <a:ext cx="836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3"/>
                </a:solidFill>
              </a:rPr>
              <a:t>Overdue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811780" y="5541264"/>
            <a:ext cx="146304" cy="146304"/>
          </a:xfrm>
          <a:prstGeom prst="ellipse">
            <a:avLst/>
          </a:prstGeom>
          <a:solidFill>
            <a:srgbClr val="3566A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031236" y="5468112"/>
            <a:ext cx="1147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3"/>
                </a:solidFill>
              </a:rPr>
              <a:t>Appointment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416552" y="5541264"/>
            <a:ext cx="146304" cy="146304"/>
          </a:xfrm>
          <a:prstGeom prst="ellipse">
            <a:avLst/>
          </a:prstGeom>
          <a:solidFill>
            <a:srgbClr val="E3A23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36008" y="5468112"/>
            <a:ext cx="1769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3"/>
                </a:solidFill>
              </a:rPr>
              <a:t>Arrival / departure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406640" y="1645920"/>
            <a:ext cx="4327855" cy="102412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607808" y="1874520"/>
            <a:ext cx="548640" cy="548640"/>
          </a:xfrm>
          <a:prstGeom prst="ellipse">
            <a:avLst/>
          </a:prstGeom>
          <a:solidFill>
            <a:srgbClr val="FBEAF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968" y="201168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339328" y="18013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33"/>
                </a:solidFill>
              </a:rPr>
              <a:t>Month view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8339328" y="21031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Colour-coded tasks, appointments, arrivals and departures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406640" y="2825496"/>
            <a:ext cx="4327855" cy="102412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607808" y="3054096"/>
            <a:ext cx="548640" cy="548640"/>
          </a:xfrm>
          <a:prstGeom prst="ellipse">
            <a:avLst/>
          </a:prstGeom>
          <a:solidFill>
            <a:srgbClr val="E9F0FA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968" y="3191256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339328" y="298094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33"/>
                </a:solidFill>
              </a:rPr>
              <a:t>Task list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8339328" y="328269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Overdue, today, next 14 days and recently completed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7406640" y="4005072"/>
            <a:ext cx="4327855" cy="102412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607808" y="4233672"/>
            <a:ext cx="548640" cy="548640"/>
          </a:xfrm>
          <a:prstGeom prst="ellipse">
            <a:avLst/>
          </a:prstGeom>
          <a:solidFill>
            <a:srgbClr val="E3F3F6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968" y="4370832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339328" y="41605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33"/>
                </a:solidFill>
              </a:rPr>
              <a:t>Automatic tasks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8339328" y="446227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A note with a next-action date becomes a task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7406640" y="5184648"/>
            <a:ext cx="4327855" cy="102412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607808" y="5413248"/>
            <a:ext cx="548640" cy="548640"/>
          </a:xfrm>
          <a:prstGeom prst="ellipse">
            <a:avLst/>
          </a:prstGeom>
          <a:solidFill>
            <a:srgbClr val="FDF4E3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4968" y="5550408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8339328" y="534009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33"/>
                </a:solidFill>
              </a:rPr>
              <a:t>Mine only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8339328" y="564184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Each coordinator can filter to their own work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3840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92F6E"/>
                </a:solidFill>
              </a:rPr>
              <a:t>MODULE  ·  ACCOUNTS &amp; BILLING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433"/>
                </a:solidFill>
              </a:rPr>
              <a:t>Full patient billing, tied to the case ID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33"/>
                </a:solidFill>
              </a:rPr>
              <a:t>Six charge types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886200" y="1591056"/>
            <a:ext cx="2971800" cy="310896"/>
          </a:xfrm>
          <a:prstGeom prst="roundRect">
            <a:avLst>
              <a:gd name="adj" fmla="val 50000"/>
            </a:avLst>
          </a:prstGeom>
          <a:solidFill>
            <a:srgbClr val="E9F0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86200" y="1591056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566AC"/>
                </a:solidFill>
              </a:rPr>
              <a:t>BDT · THB · USD with recorded rate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2011680" cy="1261872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240280"/>
            <a:ext cx="402336" cy="402336"/>
          </a:xfrm>
          <a:prstGeom prst="ellipse">
            <a:avLst/>
          </a:prstGeom>
          <a:solidFill>
            <a:srgbClr val="FBEAF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2340864"/>
            <a:ext cx="201168" cy="20116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43000" y="23042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433"/>
                </a:solidFill>
              </a:rPr>
              <a:t>Visa fees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F5F6F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0080" y="280720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433"/>
                </a:solidFill>
              </a:rPr>
              <a:t>travellers × fee + service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651760" y="2057400"/>
            <a:ext cx="2011680" cy="1261872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834640" y="2240280"/>
            <a:ext cx="402336" cy="402336"/>
          </a:xfrm>
          <a:prstGeom prst="ellipse">
            <a:avLst/>
          </a:prstGeom>
          <a:solidFill>
            <a:srgbClr val="FBEAF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224" y="2340864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337560" y="23042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433"/>
                </a:solidFill>
              </a:rPr>
              <a:t>Air ticket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2834640" y="2807208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F5F6FA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2834640" y="280720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433"/>
                </a:solidFill>
              </a:rPr>
              <a:t>charge + service fee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4846320" y="2057400"/>
            <a:ext cx="2011680" cy="1261872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029200" y="2240280"/>
            <a:ext cx="402336" cy="402336"/>
          </a:xfrm>
          <a:prstGeom prst="ellipse">
            <a:avLst/>
          </a:prstGeom>
          <a:solidFill>
            <a:srgbClr val="FBEAF2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9784" y="2340864"/>
            <a:ext cx="201168" cy="20116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532120" y="23042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433"/>
                </a:solidFill>
              </a:rPr>
              <a:t>Hotel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5029200" y="2807208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F5F6F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5029200" y="280720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433"/>
                </a:solidFill>
              </a:rPr>
              <a:t>rooms × nights × rate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457200" y="3474720"/>
            <a:ext cx="2011680" cy="1261872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40080" y="3657600"/>
            <a:ext cx="402336" cy="402336"/>
          </a:xfrm>
          <a:prstGeom prst="ellipse">
            <a:avLst/>
          </a:prstGeom>
          <a:solidFill>
            <a:srgbClr val="FBEAF2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3758184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143000" y="37216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433"/>
                </a:solidFill>
              </a:rPr>
              <a:t>Land package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640080" y="4224528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F5F6FA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640080" y="422452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433"/>
                </a:solidFill>
              </a:rPr>
              <a:t>quantity × unit rate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2651760" y="3474720"/>
            <a:ext cx="2011680" cy="1261872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2834640" y="3657600"/>
            <a:ext cx="402336" cy="402336"/>
          </a:xfrm>
          <a:prstGeom prst="ellipse">
            <a:avLst/>
          </a:prstGeom>
          <a:solidFill>
            <a:srgbClr val="FBEAF2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5224" y="3758184"/>
            <a:ext cx="201168" cy="201168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3337560" y="37216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433"/>
                </a:solidFill>
              </a:rPr>
              <a:t>Service charges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2834640" y="4224528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F5F6FA"/>
          </a:solidFill>
          <a:ln/>
        </p:spPr>
      </p:sp>
      <p:sp>
        <p:nvSpPr>
          <p:cNvPr id="36" name="Text 29"/>
          <p:cNvSpPr txBox="1"/>
          <p:nvPr/>
        </p:nvSpPr>
        <p:spPr>
          <a:xfrm>
            <a:off x="2834640" y="422452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433"/>
                </a:solidFill>
              </a:rPr>
              <a:t>agreed amount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4846320" y="3474720"/>
            <a:ext cx="2011680" cy="1261872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5029200" y="3657600"/>
            <a:ext cx="402336" cy="402336"/>
          </a:xfrm>
          <a:prstGeom prst="ellipse">
            <a:avLst/>
          </a:prstGeom>
          <a:solidFill>
            <a:srgbClr val="FBEAF2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9784" y="3758184"/>
            <a:ext cx="201168" cy="201168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5532120" y="37216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433"/>
                </a:solidFill>
              </a:rPr>
              <a:t>Discounts</a:t>
            </a:r>
            <a:endParaRPr lang="en-US" sz="1250" dirty="0"/>
          </a:p>
        </p:txBody>
      </p:sp>
      <p:sp>
        <p:nvSpPr>
          <p:cNvPr id="41" name="Shape 33"/>
          <p:cNvSpPr/>
          <p:nvPr/>
        </p:nvSpPr>
        <p:spPr>
          <a:xfrm>
            <a:off x="5029200" y="4224528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F5F6FA"/>
          </a:solidFill>
          <a:ln/>
        </p:spPr>
      </p:sp>
      <p:sp>
        <p:nvSpPr>
          <p:cNvPr id="42" name="Text 34"/>
          <p:cNvSpPr txBox="1"/>
          <p:nvPr/>
        </p:nvSpPr>
        <p:spPr>
          <a:xfrm>
            <a:off x="5029200" y="422452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433"/>
                </a:solidFill>
              </a:rPr>
              <a:t>subtracted from bill</a:t>
            </a:r>
            <a:endParaRPr lang="en-US" sz="950" dirty="0"/>
          </a:p>
        </p:txBody>
      </p:sp>
      <p:sp>
        <p:nvSpPr>
          <p:cNvPr id="43" name="Text 35"/>
          <p:cNvSpPr txBox="1"/>
          <p:nvPr/>
        </p:nvSpPr>
        <p:spPr>
          <a:xfrm>
            <a:off x="457200" y="49834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Example  ·  case TMD-2026-0004 (USD)</a:t>
            </a:r>
            <a:endParaRPr lang="en-US" sz="1050" dirty="0"/>
          </a:p>
        </p:txBody>
      </p:sp>
      <p:sp>
        <p:nvSpPr>
          <p:cNvPr id="44" name="Shape 36"/>
          <p:cNvSpPr/>
          <p:nvPr/>
        </p:nvSpPr>
        <p:spPr>
          <a:xfrm>
            <a:off x="457200" y="5303520"/>
            <a:ext cx="146304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45" name="Text 37"/>
          <p:cNvSpPr txBox="1"/>
          <p:nvPr/>
        </p:nvSpPr>
        <p:spPr>
          <a:xfrm>
            <a:off x="621792" y="53949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433"/>
                </a:solidFill>
              </a:rPr>
              <a:t>1,506.60</a:t>
            </a:r>
            <a:endParaRPr lang="en-US" sz="1800" dirty="0"/>
          </a:p>
        </p:txBody>
      </p:sp>
      <p:sp>
        <p:nvSpPr>
          <p:cNvPr id="46" name="Text 38"/>
          <p:cNvSpPr txBox="1"/>
          <p:nvPr/>
        </p:nvSpPr>
        <p:spPr>
          <a:xfrm>
            <a:off x="621792" y="58338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Total bill</a:t>
            </a:r>
            <a:endParaRPr lang="en-US" sz="1050" dirty="0"/>
          </a:p>
        </p:txBody>
      </p:sp>
      <p:sp>
        <p:nvSpPr>
          <p:cNvPr id="47" name="Shape 39"/>
          <p:cNvSpPr/>
          <p:nvPr/>
        </p:nvSpPr>
        <p:spPr>
          <a:xfrm>
            <a:off x="2103120" y="5303520"/>
            <a:ext cx="146304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48" name="Text 40"/>
          <p:cNvSpPr txBox="1"/>
          <p:nvPr/>
        </p:nvSpPr>
        <p:spPr>
          <a:xfrm>
            <a:off x="2267712" y="53949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566AC"/>
                </a:solidFill>
              </a:rPr>
              <a:t>549.00</a:t>
            </a:r>
            <a:endParaRPr lang="en-US" sz="1800" dirty="0"/>
          </a:p>
        </p:txBody>
      </p:sp>
      <p:sp>
        <p:nvSpPr>
          <p:cNvPr id="49" name="Text 41"/>
          <p:cNvSpPr txBox="1"/>
          <p:nvPr/>
        </p:nvSpPr>
        <p:spPr>
          <a:xfrm>
            <a:off x="2267712" y="58338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Paid</a:t>
            </a:r>
            <a:endParaRPr lang="en-US" sz="1050" dirty="0"/>
          </a:p>
        </p:txBody>
      </p:sp>
      <p:sp>
        <p:nvSpPr>
          <p:cNvPr id="50" name="Shape 42"/>
          <p:cNvSpPr/>
          <p:nvPr/>
        </p:nvSpPr>
        <p:spPr>
          <a:xfrm>
            <a:off x="3749040" y="5303520"/>
            <a:ext cx="146304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51" name="Text 43"/>
          <p:cNvSpPr txBox="1"/>
          <p:nvPr/>
        </p:nvSpPr>
        <p:spPr>
          <a:xfrm>
            <a:off x="3913632" y="53949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</a:rPr>
              <a:t>957.60</a:t>
            </a:r>
            <a:endParaRPr lang="en-US" sz="1800" dirty="0"/>
          </a:p>
        </p:txBody>
      </p:sp>
      <p:sp>
        <p:nvSpPr>
          <p:cNvPr id="52" name="Text 44"/>
          <p:cNvSpPr txBox="1"/>
          <p:nvPr/>
        </p:nvSpPr>
        <p:spPr>
          <a:xfrm>
            <a:off x="3913632" y="58338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Balance due</a:t>
            </a:r>
            <a:endParaRPr lang="en-US" sz="1050" dirty="0"/>
          </a:p>
        </p:txBody>
      </p:sp>
      <p:sp>
        <p:nvSpPr>
          <p:cNvPr id="53" name="Shape 45"/>
          <p:cNvSpPr/>
          <p:nvPr/>
        </p:nvSpPr>
        <p:spPr>
          <a:xfrm>
            <a:off x="5394960" y="5303520"/>
            <a:ext cx="146304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54" name="Text 46"/>
          <p:cNvSpPr txBox="1"/>
          <p:nvPr/>
        </p:nvSpPr>
        <p:spPr>
          <a:xfrm>
            <a:off x="5559552" y="53949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</a:rPr>
              <a:t>585.20</a:t>
            </a:r>
            <a:endParaRPr lang="en-US" sz="1800" dirty="0"/>
          </a:p>
        </p:txBody>
      </p:sp>
      <p:sp>
        <p:nvSpPr>
          <p:cNvPr id="55" name="Text 47"/>
          <p:cNvSpPr txBox="1"/>
          <p:nvPr/>
        </p:nvSpPr>
        <p:spPr>
          <a:xfrm>
            <a:off x="5559552" y="58338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Est. profit</a:t>
            </a:r>
            <a:endParaRPr lang="en-US" sz="1050" dirty="0"/>
          </a:p>
        </p:txBody>
      </p:sp>
      <p:sp>
        <p:nvSpPr>
          <p:cNvPr id="56" name="Shape 48"/>
          <p:cNvSpPr/>
          <p:nvPr/>
        </p:nvSpPr>
        <p:spPr>
          <a:xfrm>
            <a:off x="7132320" y="1600200"/>
            <a:ext cx="4602175" cy="4663440"/>
          </a:xfrm>
          <a:prstGeom prst="roundRect">
            <a:avLst>
              <a:gd name="adj" fmla="val 2782"/>
            </a:avLst>
          </a:prstGeom>
          <a:solidFill>
            <a:srgbClr val="1B2440"/>
          </a:solidFill>
          <a:ln/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57" name="Text 49"/>
          <p:cNvSpPr txBox="1"/>
          <p:nvPr/>
        </p:nvSpPr>
        <p:spPr>
          <a:xfrm>
            <a:off x="7452360" y="181051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From quote to receipt</a:t>
            </a:r>
            <a:endParaRPr lang="en-US" sz="1600" dirty="0"/>
          </a:p>
        </p:txBody>
      </p:sp>
      <p:sp>
        <p:nvSpPr>
          <p:cNvPr id="58" name="Shape 50"/>
          <p:cNvSpPr/>
          <p:nvPr/>
        </p:nvSpPr>
        <p:spPr>
          <a:xfrm>
            <a:off x="7616952" y="2660904"/>
            <a:ext cx="0" cy="310896"/>
          </a:xfrm>
          <a:prstGeom prst="line">
            <a:avLst/>
          </a:prstGeom>
          <a:noFill/>
          <a:ln w="19050">
            <a:solidFill>
              <a:srgbClr val="263257"/>
            </a:solidFill>
            <a:prstDash val="solid"/>
          </a:ln>
        </p:spPr>
      </p:sp>
      <p:sp>
        <p:nvSpPr>
          <p:cNvPr id="59" name="Shape 51"/>
          <p:cNvSpPr/>
          <p:nvPr/>
        </p:nvSpPr>
        <p:spPr>
          <a:xfrm>
            <a:off x="7452360" y="2331720"/>
            <a:ext cx="329184" cy="329184"/>
          </a:xfrm>
          <a:prstGeom prst="ellipse">
            <a:avLst/>
          </a:prstGeom>
          <a:solidFill>
            <a:srgbClr val="B92F6E"/>
          </a:solidFill>
          <a:ln/>
        </p:spPr>
      </p:sp>
      <p:sp>
        <p:nvSpPr>
          <p:cNvPr id="60" name="Text 52"/>
          <p:cNvSpPr txBox="1"/>
          <p:nvPr/>
        </p:nvSpPr>
        <p:spPr>
          <a:xfrm>
            <a:off x="7452360" y="2331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61" name="Text 53"/>
          <p:cNvSpPr txBox="1"/>
          <p:nvPr/>
        </p:nvSpPr>
        <p:spPr>
          <a:xfrm>
            <a:off x="7955280" y="230428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Draft charges</a:t>
            </a:r>
            <a:endParaRPr lang="en-US" sz="1250" dirty="0"/>
          </a:p>
        </p:txBody>
      </p:sp>
      <p:sp>
        <p:nvSpPr>
          <p:cNvPr id="62" name="Text 54"/>
          <p:cNvSpPr txBox="1"/>
          <p:nvPr/>
        </p:nvSpPr>
        <p:spPr>
          <a:xfrm>
            <a:off x="7955280" y="25603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E3"/>
                </a:solidFill>
              </a:rPr>
              <a:t>Editable until the invoice is issued</a:t>
            </a:r>
            <a:endParaRPr lang="en-US" sz="1000" dirty="0"/>
          </a:p>
        </p:txBody>
      </p:sp>
      <p:sp>
        <p:nvSpPr>
          <p:cNvPr id="63" name="Shape 55"/>
          <p:cNvSpPr/>
          <p:nvPr/>
        </p:nvSpPr>
        <p:spPr>
          <a:xfrm>
            <a:off x="7616952" y="3300984"/>
            <a:ext cx="0" cy="310896"/>
          </a:xfrm>
          <a:prstGeom prst="line">
            <a:avLst/>
          </a:prstGeom>
          <a:noFill/>
          <a:ln w="19050">
            <a:solidFill>
              <a:srgbClr val="263257"/>
            </a:solidFill>
            <a:prstDash val="solid"/>
          </a:ln>
        </p:spPr>
      </p:sp>
      <p:sp>
        <p:nvSpPr>
          <p:cNvPr id="64" name="Shape 56"/>
          <p:cNvSpPr/>
          <p:nvPr/>
        </p:nvSpPr>
        <p:spPr>
          <a:xfrm>
            <a:off x="7452360" y="2971800"/>
            <a:ext cx="329184" cy="329184"/>
          </a:xfrm>
          <a:prstGeom prst="ellipse">
            <a:avLst/>
          </a:prstGeom>
          <a:solidFill>
            <a:srgbClr val="B92F6E"/>
          </a:solidFill>
          <a:ln/>
        </p:spPr>
      </p:sp>
      <p:sp>
        <p:nvSpPr>
          <p:cNvPr id="65" name="Text 57"/>
          <p:cNvSpPr txBox="1"/>
          <p:nvPr/>
        </p:nvSpPr>
        <p:spPr>
          <a:xfrm>
            <a:off x="745236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66" name="Text 58"/>
          <p:cNvSpPr txBox="1"/>
          <p:nvPr/>
        </p:nvSpPr>
        <p:spPr>
          <a:xfrm>
            <a:off x="7955280" y="294436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Quotation</a:t>
            </a:r>
            <a:endParaRPr lang="en-US" sz="1250" dirty="0"/>
          </a:p>
        </p:txBody>
      </p:sp>
      <p:sp>
        <p:nvSpPr>
          <p:cNvPr id="67" name="Text 59"/>
          <p:cNvSpPr txBox="1"/>
          <p:nvPr/>
        </p:nvSpPr>
        <p:spPr>
          <a:xfrm>
            <a:off x="7955280" y="32004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E3"/>
                </a:solidFill>
              </a:rPr>
              <a:t>An estimate the patient can see any time</a:t>
            </a:r>
            <a:endParaRPr lang="en-US" sz="1000" dirty="0"/>
          </a:p>
        </p:txBody>
      </p:sp>
      <p:sp>
        <p:nvSpPr>
          <p:cNvPr id="68" name="Shape 60"/>
          <p:cNvSpPr/>
          <p:nvPr/>
        </p:nvSpPr>
        <p:spPr>
          <a:xfrm>
            <a:off x="7616952" y="3941064"/>
            <a:ext cx="0" cy="310896"/>
          </a:xfrm>
          <a:prstGeom prst="line">
            <a:avLst/>
          </a:prstGeom>
          <a:noFill/>
          <a:ln w="19050">
            <a:solidFill>
              <a:srgbClr val="263257"/>
            </a:solidFill>
            <a:prstDash val="solid"/>
          </a:ln>
        </p:spPr>
      </p:sp>
      <p:sp>
        <p:nvSpPr>
          <p:cNvPr id="69" name="Shape 61"/>
          <p:cNvSpPr/>
          <p:nvPr/>
        </p:nvSpPr>
        <p:spPr>
          <a:xfrm>
            <a:off x="7452360" y="3611880"/>
            <a:ext cx="329184" cy="329184"/>
          </a:xfrm>
          <a:prstGeom prst="ellipse">
            <a:avLst/>
          </a:prstGeom>
          <a:solidFill>
            <a:srgbClr val="B92F6E"/>
          </a:solidFill>
          <a:ln/>
        </p:spPr>
      </p:sp>
      <p:sp>
        <p:nvSpPr>
          <p:cNvPr id="70" name="Text 62"/>
          <p:cNvSpPr txBox="1"/>
          <p:nvPr/>
        </p:nvSpPr>
        <p:spPr>
          <a:xfrm>
            <a:off x="7452360" y="3611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71" name="Text 63"/>
          <p:cNvSpPr txBox="1"/>
          <p:nvPr/>
        </p:nvSpPr>
        <p:spPr>
          <a:xfrm>
            <a:off x="7955280" y="358444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Issue invoice</a:t>
            </a:r>
            <a:endParaRPr lang="en-US" sz="1250" dirty="0"/>
          </a:p>
        </p:txBody>
      </p:sp>
      <p:sp>
        <p:nvSpPr>
          <p:cNvPr id="72" name="Text 64"/>
          <p:cNvSpPr txBox="1"/>
          <p:nvPr/>
        </p:nvSpPr>
        <p:spPr>
          <a:xfrm>
            <a:off x="7955280" y="38404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E3"/>
                </a:solidFill>
              </a:rPr>
              <a:t>Charges numbered INV-year-no. and locked</a:t>
            </a:r>
            <a:endParaRPr lang="en-US" sz="1000" dirty="0"/>
          </a:p>
        </p:txBody>
      </p:sp>
      <p:sp>
        <p:nvSpPr>
          <p:cNvPr id="73" name="Shape 65"/>
          <p:cNvSpPr/>
          <p:nvPr/>
        </p:nvSpPr>
        <p:spPr>
          <a:xfrm>
            <a:off x="7616952" y="4581144"/>
            <a:ext cx="0" cy="310896"/>
          </a:xfrm>
          <a:prstGeom prst="line">
            <a:avLst/>
          </a:prstGeom>
          <a:noFill/>
          <a:ln w="19050">
            <a:solidFill>
              <a:srgbClr val="263257"/>
            </a:solidFill>
            <a:prstDash val="solid"/>
          </a:ln>
        </p:spPr>
      </p:sp>
      <p:sp>
        <p:nvSpPr>
          <p:cNvPr id="74" name="Shape 66"/>
          <p:cNvSpPr/>
          <p:nvPr/>
        </p:nvSpPr>
        <p:spPr>
          <a:xfrm>
            <a:off x="7452360" y="4251960"/>
            <a:ext cx="329184" cy="329184"/>
          </a:xfrm>
          <a:prstGeom prst="ellipse">
            <a:avLst/>
          </a:prstGeom>
          <a:solidFill>
            <a:srgbClr val="B92F6E"/>
          </a:solidFill>
          <a:ln/>
        </p:spPr>
      </p:sp>
      <p:sp>
        <p:nvSpPr>
          <p:cNvPr id="75" name="Text 67"/>
          <p:cNvSpPr txBox="1"/>
          <p:nvPr/>
        </p:nvSpPr>
        <p:spPr>
          <a:xfrm>
            <a:off x="7452360" y="4251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76" name="Text 68"/>
          <p:cNvSpPr txBox="1"/>
          <p:nvPr/>
        </p:nvSpPr>
        <p:spPr>
          <a:xfrm>
            <a:off x="7955280" y="42245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Payments &amp; refunds</a:t>
            </a:r>
            <a:endParaRPr lang="en-US" sz="1250" dirty="0"/>
          </a:p>
        </p:txBody>
      </p:sp>
      <p:sp>
        <p:nvSpPr>
          <p:cNvPr id="77" name="Text 69"/>
          <p:cNvSpPr txBox="1"/>
          <p:nvPr/>
        </p:nvSpPr>
        <p:spPr>
          <a:xfrm>
            <a:off x="7955280" y="44805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E3"/>
                </a:solidFill>
              </a:rPr>
              <a:t>Cash, bank, bKash/Nagad, card or cheque, with receipts</a:t>
            </a:r>
            <a:endParaRPr lang="en-US" sz="1000" dirty="0"/>
          </a:p>
        </p:txBody>
      </p:sp>
      <p:sp>
        <p:nvSpPr>
          <p:cNvPr id="78" name="Shape 70"/>
          <p:cNvSpPr/>
          <p:nvPr/>
        </p:nvSpPr>
        <p:spPr>
          <a:xfrm>
            <a:off x="7616952" y="5221224"/>
            <a:ext cx="0" cy="310896"/>
          </a:xfrm>
          <a:prstGeom prst="line">
            <a:avLst/>
          </a:prstGeom>
          <a:noFill/>
          <a:ln w="19050">
            <a:solidFill>
              <a:srgbClr val="263257"/>
            </a:solidFill>
            <a:prstDash val="solid"/>
          </a:ln>
        </p:spPr>
      </p:sp>
      <p:sp>
        <p:nvSpPr>
          <p:cNvPr id="79" name="Shape 71"/>
          <p:cNvSpPr/>
          <p:nvPr/>
        </p:nvSpPr>
        <p:spPr>
          <a:xfrm>
            <a:off x="7452360" y="4892040"/>
            <a:ext cx="329184" cy="329184"/>
          </a:xfrm>
          <a:prstGeom prst="ellipse">
            <a:avLst/>
          </a:prstGeom>
          <a:solidFill>
            <a:srgbClr val="B92F6E"/>
          </a:solidFill>
          <a:ln/>
        </p:spPr>
      </p:sp>
      <p:sp>
        <p:nvSpPr>
          <p:cNvPr id="80" name="Text 72"/>
          <p:cNvSpPr txBox="1"/>
          <p:nvPr/>
        </p:nvSpPr>
        <p:spPr>
          <a:xfrm>
            <a:off x="7452360" y="4892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81" name="Text 73"/>
          <p:cNvSpPr txBox="1"/>
          <p:nvPr/>
        </p:nvSpPr>
        <p:spPr>
          <a:xfrm>
            <a:off x="7955280" y="48646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Reverse to correct</a:t>
            </a:r>
            <a:endParaRPr lang="en-US" sz="1250" dirty="0"/>
          </a:p>
        </p:txBody>
      </p:sp>
      <p:sp>
        <p:nvSpPr>
          <p:cNvPr id="82" name="Text 74"/>
          <p:cNvSpPr txBox="1"/>
          <p:nvPr/>
        </p:nvSpPr>
        <p:spPr>
          <a:xfrm>
            <a:off x="7955280" y="5120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E3"/>
                </a:solidFill>
              </a:rPr>
              <a:t>An equal and opposite entry with a reason</a:t>
            </a:r>
            <a:endParaRPr lang="en-US" sz="1000" dirty="0"/>
          </a:p>
        </p:txBody>
      </p:sp>
      <p:sp>
        <p:nvSpPr>
          <p:cNvPr id="83" name="Shape 75"/>
          <p:cNvSpPr/>
          <p:nvPr/>
        </p:nvSpPr>
        <p:spPr>
          <a:xfrm>
            <a:off x="7452360" y="5532120"/>
            <a:ext cx="329184" cy="329184"/>
          </a:xfrm>
          <a:prstGeom prst="ellipse">
            <a:avLst/>
          </a:prstGeom>
          <a:solidFill>
            <a:srgbClr val="B92F6E"/>
          </a:solidFill>
          <a:ln/>
        </p:spPr>
      </p:sp>
      <p:sp>
        <p:nvSpPr>
          <p:cNvPr id="84" name="Text 76"/>
          <p:cNvSpPr txBox="1"/>
          <p:nvPr/>
        </p:nvSpPr>
        <p:spPr>
          <a:xfrm>
            <a:off x="7452360" y="5532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85" name="Text 77"/>
          <p:cNvSpPr txBox="1"/>
          <p:nvPr/>
        </p:nvSpPr>
        <p:spPr>
          <a:xfrm>
            <a:off x="7955280" y="550468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Print or PDF</a:t>
            </a:r>
            <a:endParaRPr lang="en-US" sz="1250" dirty="0"/>
          </a:p>
        </p:txBody>
      </p:sp>
      <p:sp>
        <p:nvSpPr>
          <p:cNvPr id="86" name="Text 78"/>
          <p:cNvSpPr txBox="1"/>
          <p:nvPr/>
        </p:nvSpPr>
        <p:spPr>
          <a:xfrm>
            <a:off x="7955280" y="57607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E3"/>
                </a:solidFill>
              </a:rPr>
              <a:t>Quotation, invoice, receipt and statement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3840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92F6E"/>
                </a:solidFill>
              </a:rPr>
              <a:t>MODULE  ·  STAFF, ROLES &amp; AUDIT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433"/>
                </a:solidFill>
              </a:rPr>
              <a:t>Five role templates built from 13 permissions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667512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868680"/>
                <a:gridCol w="868680"/>
                <a:gridCol w="868680"/>
                <a:gridCol w="868680"/>
                <a:gridCol w="86868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Permission area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Admin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Manager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Accounts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Coord.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View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433"/>
                          </a:solidFill>
                        </a:rPr>
                        <a:t>Create &amp; edit cases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92F6E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92F6E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3C8D2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92F6E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3C8D2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433"/>
                          </a:solidFill>
                        </a:rPr>
                        <a:t>Change case stage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92F6E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92F6E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3C8D2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92F6E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3C8D2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433"/>
                          </a:solidFill>
                        </a:rPr>
                        <a:t>View &amp; download records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92F6E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92F6E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92F6E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92F6E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92F6E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433"/>
                          </a:solidFill>
                        </a:rPr>
                        <a:t>Upload records, notes, tasks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92F6E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92F6E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3C8D2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92F6E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3C8D2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433"/>
                          </a:solidFill>
                        </a:rPr>
                        <a:t>Hospital &amp; Thailand details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92F6E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92F6E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3C8D2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92F6E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3C8D2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433"/>
                          </a:solidFill>
                        </a:rPr>
                        <a:t>View accounts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92F6E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92F6E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92F6E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3C8D2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3C8D2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433"/>
                          </a:solidFill>
                        </a:rPr>
                        <a:t>Post charges &amp; invoices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92F6E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3C8D2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92F6E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3C8D2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3C8D2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433"/>
                          </a:solidFill>
                        </a:rPr>
                        <a:t>Manage staff &amp; permissions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92F6E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3C8D2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3C8D2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3C8D2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3C8D2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433"/>
                          </a:solidFill>
                        </a:rPr>
                        <a:t>View audit history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92F6E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92F6E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3C8D2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3C8D2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3C8D2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98932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67085"/>
                </a:solidFill>
              </a:rPr>
              <a:t>Change any single tick and the role becomes “Custom”. Staff belong to one office.</a:t>
            </a:r>
            <a:endParaRPr lang="en-US" sz="1050" dirty="0"/>
          </a:p>
        </p:txBody>
      </p:sp>
      <p:pic>
        <p:nvPicPr>
          <p:cNvPr id="6" name="Image 0" descr="/private/tmp/claude-501/-Users-ghost-Programming-Web-thaiMedics/a31d3b18-7cff-49d8-bfc3-4f872109e82c/scratchpad/assets/staff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600200"/>
            <a:ext cx="4327855" cy="225033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7406640" y="4069080"/>
            <a:ext cx="512064" cy="512064"/>
          </a:xfrm>
          <a:prstGeom prst="ellipse">
            <a:avLst/>
          </a:prstGeom>
          <a:solidFill>
            <a:srgbClr val="E9F0F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656" y="4197096"/>
            <a:ext cx="256032" cy="25603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092440" y="40507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433"/>
                </a:solidFill>
              </a:rPr>
              <a:t>Three offices</a:t>
            </a:r>
            <a:endParaRPr lang="en-US" sz="1300" dirty="0"/>
          </a:p>
        </p:txBody>
      </p:sp>
      <p:sp>
        <p:nvSpPr>
          <p:cNvPr id="10" name="Text 5"/>
          <p:cNvSpPr txBox="1"/>
          <p:nvPr/>
        </p:nvSpPr>
        <p:spPr>
          <a:xfrm>
            <a:off x="8092440" y="43251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Bangladesh, Thailand and Management</a:t>
            </a:r>
            <a:endParaRPr lang="en-US" sz="1050" dirty="0"/>
          </a:p>
        </p:txBody>
      </p:sp>
      <p:sp>
        <p:nvSpPr>
          <p:cNvPr id="11" name="Shape 6"/>
          <p:cNvSpPr/>
          <p:nvPr/>
        </p:nvSpPr>
        <p:spPr>
          <a:xfrm>
            <a:off x="7406640" y="4818888"/>
            <a:ext cx="512064" cy="512064"/>
          </a:xfrm>
          <a:prstGeom prst="ellipse">
            <a:avLst/>
          </a:prstGeom>
          <a:solidFill>
            <a:srgbClr val="E7F5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656" y="4946904"/>
            <a:ext cx="256032" cy="25603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092440" y="48006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433"/>
                </a:solidFill>
              </a:rPr>
              <a:t>Audit history</a:t>
            </a:r>
            <a:endParaRPr lang="en-US" sz="1300" dirty="0"/>
          </a:p>
        </p:txBody>
      </p:sp>
      <p:sp>
        <p:nvSpPr>
          <p:cNvPr id="14" name="Text 8"/>
          <p:cNvSpPr txBox="1"/>
          <p:nvPr/>
        </p:nvSpPr>
        <p:spPr>
          <a:xfrm>
            <a:off x="8092440" y="50749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Who did what, to which record, and when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7406640" y="5568696"/>
            <a:ext cx="512064" cy="512064"/>
          </a:xfrm>
          <a:prstGeom prst="ellipse">
            <a:avLst/>
          </a:prstGeom>
          <a:solidFill>
            <a:srgbClr val="FBEAF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5696712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092440" y="55504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433"/>
                </a:solidFill>
              </a:rPr>
              <a:t>Bangla &amp; English</a:t>
            </a:r>
            <a:endParaRPr lang="en-US" sz="1300" dirty="0"/>
          </a:p>
        </p:txBody>
      </p:sp>
      <p:sp>
        <p:nvSpPr>
          <p:cNvPr id="18" name="Text 11"/>
          <p:cNvSpPr txBox="1"/>
          <p:nvPr/>
        </p:nvSpPr>
        <p:spPr>
          <a:xfrm>
            <a:off x="8092440" y="582472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Switch language any time, desktop or mobile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78163" y="1508760"/>
            <a:ext cx="1228954" cy="3840480"/>
          </a:xfrm>
          <a:prstGeom prst="rect">
            <a:avLst/>
          </a:prstGeom>
          <a:solidFill>
            <a:srgbClr val="B92F6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814523"/>
            <a:ext cx="3840480" cy="1228954"/>
          </a:xfrm>
          <a:prstGeom prst="rect">
            <a:avLst/>
          </a:prstGeom>
          <a:solidFill>
            <a:srgbClr val="B92F6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162995" y="457200"/>
            <a:ext cx="351130" cy="1097280"/>
          </a:xfrm>
          <a:prstGeom prst="rect">
            <a:avLst/>
          </a:prstGeom>
          <a:solidFill>
            <a:srgbClr val="B92F6E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0" y="830275"/>
            <a:ext cx="1097280" cy="351130"/>
          </a:xfrm>
          <a:prstGeom prst="rect">
            <a:avLst/>
          </a:prstGeom>
          <a:solidFill>
            <a:srgbClr val="B92F6E">
              <a:alpha val="30000"/>
            </a:srgbClr>
          </a:solidFill>
          <a:ln/>
        </p:spPr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640080" y="14173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B92F6E"/>
                </a:solidFill>
              </a:rPr>
              <a:t>02</a:t>
            </a:r>
            <a:endParaRPr lang="en-US" sz="9600" dirty="0"/>
          </a:p>
        </p:txBody>
      </p:sp>
      <p:sp>
        <p:nvSpPr>
          <p:cNvPr id="7" name="Text 0"/>
          <p:cNvSpPr/>
          <p:nvPr>
            <p:ph idx="102" type="title" hasCustomPrompt="1"/>
          </p:nvPr>
        </p:nvSpPr>
        <p:spPr>
          <a:xfrm>
            <a:off x="640080" y="27889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How work flows</a:t>
            </a:r>
            <a:endParaRPr lang="en-US" sz="4800" dirty="0"/>
          </a:p>
        </p:txBody>
      </p:sp>
      <p:sp>
        <p:nvSpPr>
          <p:cNvPr id="8" name="Text 0"/>
          <p:cNvSpPr/>
          <p:nvPr>
            <p:ph idx="103" type="body" hasCustomPrompt="1"/>
          </p:nvPr>
        </p:nvSpPr>
        <p:spPr>
          <a:xfrm>
            <a:off x="640080" y="3840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1E3"/>
                </a:solidFill>
              </a:rPr>
              <a:t>The patient journey through eight stages, and a coordinator's working day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3840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92F6E"/>
                </a:solidFill>
              </a:rPr>
              <a:t>USER FLOW  ·  PATIENT JOURNEY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433"/>
                </a:solidFill>
              </a:rPr>
              <a:t>Eight stages, from inquiry to completed case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519390" cy="868680"/>
          </a:xfrm>
          <a:prstGeom prst="homePlate">
            <a:avLst/>
          </a:prstGeom>
          <a:solidFill>
            <a:srgbClr val="66708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10439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2697480"/>
            <a:ext cx="1318222" cy="1691640"/>
          </a:xfrm>
          <a:prstGeom prst="roundRect">
            <a:avLst>
              <a:gd name="adj" fmla="val 9711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21792" y="2807208"/>
            <a:ext cx="10987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</a:rPr>
              <a:t>New Inquiry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310128"/>
            <a:ext cx="10987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433"/>
                </a:solidFill>
              </a:rPr>
              <a:t>Patient or family contacts the Bangladesh office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66862" y="1645920"/>
            <a:ext cx="1519390" cy="868680"/>
          </a:xfrm>
          <a:prstGeom prst="chevron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41182" y="1645920"/>
            <a:ext cx="10439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912582" y="2697480"/>
            <a:ext cx="1318222" cy="1691640"/>
          </a:xfrm>
          <a:prstGeom prst="roundRect">
            <a:avLst>
              <a:gd name="adj" fmla="val 9711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031454" y="2807208"/>
            <a:ext cx="10987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Reports Collection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031454" y="3310128"/>
            <a:ext cx="10987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433"/>
                </a:solidFill>
              </a:rPr>
              <a:t>Existing medical reports collected and uploaded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76524" y="1645920"/>
            <a:ext cx="1519390" cy="868680"/>
          </a:xfrm>
          <a:prstGeom prst="chevron">
            <a:avLst/>
          </a:prstGeom>
          <a:solidFill>
            <a:srgbClr val="3566A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50844" y="1645920"/>
            <a:ext cx="10439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322244" y="2697480"/>
            <a:ext cx="1318222" cy="1691640"/>
          </a:xfrm>
          <a:prstGeom prst="roundRect">
            <a:avLst>
              <a:gd name="adj" fmla="val 9711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441116" y="2807208"/>
            <a:ext cx="10987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566AC"/>
                </a:solidFill>
              </a:rPr>
              <a:t>Hospital Review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441116" y="3310128"/>
            <a:ext cx="10987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433"/>
                </a:solidFill>
              </a:rPr>
              <a:t>Reports sent to a Thai hospital; reply tracked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86186" y="1645920"/>
            <a:ext cx="1519390" cy="868680"/>
          </a:xfrm>
          <a:prstGeom prst="chevron">
            <a:avLst/>
          </a:prstGeom>
          <a:solidFill>
            <a:srgbClr val="0E74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60506" y="1645920"/>
            <a:ext cx="10439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731906" y="2697480"/>
            <a:ext cx="1318222" cy="1691640"/>
          </a:xfrm>
          <a:prstGeom prst="roundRect">
            <a:avLst>
              <a:gd name="adj" fmla="val 9711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850778" y="2807208"/>
            <a:ext cx="10987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</a:rPr>
              <a:t>Appointment Confirmed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850778" y="3310128"/>
            <a:ext cx="10987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433"/>
                </a:solidFill>
              </a:rPr>
              <a:t>Doctor, date and proposal agreed; billing opens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95848" y="1645920"/>
            <a:ext cx="1519390" cy="868680"/>
          </a:xfrm>
          <a:prstGeom prst="chevron">
            <a:avLst/>
          </a:prstGeom>
          <a:solidFill>
            <a:srgbClr val="B779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70168" y="1645920"/>
            <a:ext cx="10439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05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141568" y="2697480"/>
            <a:ext cx="1318222" cy="1691640"/>
          </a:xfrm>
          <a:prstGeom prst="roundRect">
            <a:avLst>
              <a:gd name="adj" fmla="val 9711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260440" y="2807208"/>
            <a:ext cx="10987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7791F"/>
                </a:solidFill>
              </a:rPr>
              <a:t>Travel Arrangements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260440" y="3310128"/>
            <a:ext cx="10987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433"/>
                </a:solidFill>
              </a:rPr>
              <a:t>Visa, flights, hotel, transfers and interpreter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505509" y="1645920"/>
            <a:ext cx="1519390" cy="868680"/>
          </a:xfrm>
          <a:prstGeom prst="chevron">
            <a:avLst/>
          </a:prstGeom>
          <a:solidFill>
            <a:srgbClr val="B92F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9830" y="1645920"/>
            <a:ext cx="10439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06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7551230" y="2697480"/>
            <a:ext cx="1318222" cy="1691640"/>
          </a:xfrm>
          <a:prstGeom prst="roundRect">
            <a:avLst>
              <a:gd name="adj" fmla="val 9711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7670101" y="2807208"/>
            <a:ext cx="10987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92F6E"/>
                </a:solidFill>
              </a:rPr>
              <a:t>Treatment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670101" y="3310128"/>
            <a:ext cx="10987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433"/>
                </a:solidFill>
              </a:rPr>
              <a:t>Patient treated; Thailand office on the ground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915171" y="1645920"/>
            <a:ext cx="1519390" cy="868680"/>
          </a:xfrm>
          <a:prstGeom prst="chevron">
            <a:avLst/>
          </a:prstGeom>
          <a:solidFill>
            <a:srgbClr val="C241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189491" y="1645920"/>
            <a:ext cx="10439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07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8960891" y="2697480"/>
            <a:ext cx="1318222" cy="1691640"/>
          </a:xfrm>
          <a:prstGeom prst="roundRect">
            <a:avLst>
              <a:gd name="adj" fmla="val 9711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9079763" y="2807208"/>
            <a:ext cx="10987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</a:rPr>
              <a:t>Follow-up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9079763" y="3310128"/>
            <a:ext cx="10987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433"/>
                </a:solidFill>
              </a:rPr>
              <a:t>Check-ins and reports after treatment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0324833" y="1645920"/>
            <a:ext cx="1519390" cy="868680"/>
          </a:xfrm>
          <a:prstGeom prst="chevron">
            <a:avLst/>
          </a:prstGeom>
          <a:solidFill>
            <a:srgbClr val="1580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599153" y="1645920"/>
            <a:ext cx="10439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08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10370553" y="2697480"/>
            <a:ext cx="1318222" cy="1691640"/>
          </a:xfrm>
          <a:prstGeom prst="roundRect">
            <a:avLst>
              <a:gd name="adj" fmla="val 9711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10489425" y="2807208"/>
            <a:ext cx="10987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</a:rPr>
              <a:t>Completed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10489425" y="3310128"/>
            <a:ext cx="10987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433"/>
                </a:solidFill>
              </a:rPr>
              <a:t>Case closed and account settled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45902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</a:rPr>
              <a:t>Who works on the case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02920" y="4937760"/>
            <a:ext cx="11185855" cy="384048"/>
          </a:xfrm>
          <a:prstGeom prst="roundRect">
            <a:avLst>
              <a:gd name="adj" fmla="val 50000"/>
            </a:avLst>
          </a:prstGeom>
          <a:solidFill>
            <a:srgbClr val="FBEAF2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85800" y="493776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2F6E"/>
                </a:solidFill>
              </a:rPr>
              <a:t>Bangladesh team  </a:t>
            </a:r>
            <a:pPr indent="0" marL="0">
              <a:buNone/>
            </a:pPr>
            <a:r>
              <a:rPr lang="en-US" sz="1100" dirty="0">
                <a:solidFill>
                  <a:srgbClr val="1E2433"/>
                </a:solidFill>
              </a:rPr>
              <a:t>—  owns the case and the patient relationship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322244" y="5394960"/>
            <a:ext cx="6956870" cy="384048"/>
          </a:xfrm>
          <a:prstGeom prst="roundRect">
            <a:avLst>
              <a:gd name="adj" fmla="val 50000"/>
            </a:avLst>
          </a:prstGeom>
          <a:solidFill>
            <a:srgbClr val="E9F0FA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3505124" y="5394960"/>
            <a:ext cx="66825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566AC"/>
                </a:solidFill>
              </a:rPr>
              <a:t>Thailand office  </a:t>
            </a:r>
            <a:pPr indent="0" marL="0">
              <a:buNone/>
            </a:pPr>
            <a:r>
              <a:rPr lang="en-US" sz="1100" dirty="0">
                <a:solidFill>
                  <a:srgbClr val="1E2433"/>
                </a:solidFill>
              </a:rPr>
              <a:t>—  hospitals, travel and on-ground support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731906" y="5852160"/>
            <a:ext cx="6956870" cy="384048"/>
          </a:xfrm>
          <a:prstGeom prst="roundRect">
            <a:avLst>
              <a:gd name="adj" fmla="val 50000"/>
            </a:avLst>
          </a:prstGeom>
          <a:solidFill>
            <a:srgbClr val="FDF4E3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4914786" y="5852160"/>
            <a:ext cx="66825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791F"/>
                </a:solidFill>
              </a:rPr>
              <a:t>Accounts  </a:t>
            </a:r>
            <a:pPr indent="0" marL="0">
              <a:buNone/>
            </a:pPr>
            <a:r>
              <a:rPr lang="en-US" sz="1100" dirty="0">
                <a:solidFill>
                  <a:srgbClr val="1E2433"/>
                </a:solidFill>
              </a:rPr>
              <a:t>—  quotation, invoice and payments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3840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92F6E"/>
                </a:solidFill>
              </a:rPr>
              <a:t>USER FLOW  ·  DAILY LOOP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433"/>
                </a:solidFill>
              </a:rPr>
              <a:t>A coordinator's day runs in a simple loop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584930" y="2194560"/>
            <a:ext cx="9021836" cy="0"/>
          </a:xfrm>
          <a:prstGeom prst="line">
            <a:avLst/>
          </a:prstGeom>
          <a:noFill/>
          <a:ln w="25400">
            <a:solidFill>
              <a:srgbClr val="D0D5DD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036290" y="164592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8042" y="1947672"/>
            <a:ext cx="493776" cy="4937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73450" y="292608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BEAF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73450" y="2926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2F6E"/>
                </a:solidFill>
              </a:rPr>
              <a:t>STEP 1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310128"/>
            <a:ext cx="19811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433"/>
                </a:solidFill>
              </a:rPr>
              <a:t>Sign in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675888"/>
            <a:ext cx="18896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Dashboard opens on overdue and today's tasks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749" y="164592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01" y="1947672"/>
            <a:ext cx="493776" cy="49377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28909" y="292608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BEAF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3428909" y="2926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2F6E"/>
                </a:solidFill>
              </a:rPr>
              <a:t>STEP 2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2849819" y="3310128"/>
            <a:ext cx="19811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433"/>
                </a:solidFill>
              </a:rPr>
              <a:t>Open a case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2895539" y="3675888"/>
            <a:ext cx="18896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From a task, a stage counter or search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547208" y="164592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960" y="1947672"/>
            <a:ext cx="493776" cy="49377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684368" y="292608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BEAF2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5684368" y="2926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2F6E"/>
                </a:solidFill>
              </a:rPr>
              <a:t>STEP 3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5105278" y="3310128"/>
            <a:ext cx="19811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433"/>
                </a:solidFill>
              </a:rPr>
              <a:t>Update a tab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5150998" y="3675888"/>
            <a:ext cx="18896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Upload a report, log a call, edit hospital or travel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7802667" y="164592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4419" y="1947672"/>
            <a:ext cx="493776" cy="493776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939827" y="292608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BEAF2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7939827" y="2926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2F6E"/>
                </a:solidFill>
              </a:rPr>
              <a:t>STEP 4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7360737" y="3310128"/>
            <a:ext cx="19811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433"/>
                </a:solidFill>
              </a:rPr>
              <a:t>Set next action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7406457" y="3675888"/>
            <a:ext cx="18896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A due date turns into a task on the calendar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10058126" y="1645920"/>
            <a:ext cx="1097280" cy="1097280"/>
          </a:xfrm>
          <a:prstGeom prst="ellipse">
            <a:avLst/>
          </a:prstGeom>
          <a:solidFill>
            <a:srgbClr val="B92F6E"/>
          </a:solidFill>
          <a:ln w="12700">
            <a:solidFill>
              <a:srgbClr val="B92F6E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9878" y="1947672"/>
            <a:ext cx="493776" cy="493776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10195286" y="292608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BEAF2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10195286" y="2926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2F6E"/>
                </a:solidFill>
              </a:rPr>
              <a:t>STEP 5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9616196" y="3310128"/>
            <a:ext cx="19811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433"/>
                </a:solidFill>
              </a:rPr>
              <a:t>Move the stage</a:t>
            </a:r>
            <a:endParaRPr lang="en-US" sz="1500" dirty="0"/>
          </a:p>
        </p:txBody>
      </p:sp>
      <p:sp>
        <p:nvSpPr>
          <p:cNvPr id="34" name="Text 27"/>
          <p:cNvSpPr txBox="1"/>
          <p:nvPr/>
        </p:nvSpPr>
        <p:spPr>
          <a:xfrm>
            <a:off x="9661916" y="3675888"/>
            <a:ext cx="18896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Advance once the stage's work is done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457200" y="4754880"/>
            <a:ext cx="5524805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731520" y="4983480"/>
            <a:ext cx="640080" cy="640080"/>
          </a:xfrm>
          <a:prstGeom prst="ellipse">
            <a:avLst/>
          </a:prstGeom>
          <a:solidFill>
            <a:srgbClr val="E9F0FA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" y="5143500"/>
            <a:ext cx="320040" cy="32004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1600200" y="493776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433"/>
                </a:solidFill>
              </a:rPr>
              <a:t>Handover between offices</a:t>
            </a:r>
            <a:endParaRPr lang="en-US" sz="1500" dirty="0"/>
          </a:p>
        </p:txBody>
      </p:sp>
      <p:sp>
        <p:nvSpPr>
          <p:cNvPr id="39" name="Text 31"/>
          <p:cNvSpPr txBox="1"/>
          <p:nvPr/>
        </p:nvSpPr>
        <p:spPr>
          <a:xfrm>
            <a:off x="1600200" y="53035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Bangladesh and Thailand coordinators share handover notes on each case; notes from the other office are flagged.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6210605" y="4754880"/>
            <a:ext cx="5524805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6484925" y="4983480"/>
            <a:ext cx="640080" cy="640080"/>
          </a:xfrm>
          <a:prstGeom prst="ellipse">
            <a:avLst/>
          </a:prstGeom>
          <a:solidFill>
            <a:srgbClr val="FBEAF2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4945" y="5143500"/>
            <a:ext cx="320040" cy="320040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7353605" y="493776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433"/>
                </a:solidFill>
              </a:rPr>
              <a:t>A permanent contact log</a:t>
            </a:r>
            <a:endParaRPr lang="en-US" sz="1500" dirty="0"/>
          </a:p>
        </p:txBody>
      </p:sp>
      <p:sp>
        <p:nvSpPr>
          <p:cNvPr id="44" name="Text 35"/>
          <p:cNvSpPr txBox="1"/>
          <p:nvPr/>
        </p:nvSpPr>
        <p:spPr>
          <a:xfrm>
            <a:off x="7353605" y="53035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Every call and message stays on record with its outcome and next action; notes cannot be edited or deleted.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3840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92F6E"/>
                </a:solidFill>
              </a:rPr>
              <a:t>USER FLOW  ·  WHO DOES WHAT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433"/>
                </a:solidFill>
              </a:rPr>
              <a:t>Four teams, one case, clear hand-offs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647874" cy="4663440"/>
          </a:xfrm>
          <a:prstGeom prst="roundRect">
            <a:avLst>
              <a:gd name="adj" fmla="val 4835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737360"/>
            <a:ext cx="2373554" cy="1508760"/>
          </a:xfrm>
          <a:prstGeom prst="roundRect">
            <a:avLst>
              <a:gd name="adj" fmla="val 6061"/>
            </a:avLst>
          </a:prstGeom>
          <a:solidFill>
            <a:srgbClr val="FBEAF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01952"/>
            <a:ext cx="566928" cy="566928"/>
          </a:xfrm>
          <a:prstGeom prst="ellipse">
            <a:avLst/>
          </a:prstGeom>
          <a:solidFill>
            <a:srgbClr val="B92F6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2043684"/>
            <a:ext cx="283464" cy="28346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733474" y="202996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733474" y="202996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2F6E"/>
                </a:solidFill>
              </a:rPr>
              <a:t>Stages 1–8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578608"/>
            <a:ext cx="209923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433"/>
                </a:solidFill>
              </a:rPr>
              <a:t>Bangladesh coordinator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474720"/>
            <a:ext cx="219067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+"/>
            </a:pPr>
            <a:r>
              <a:rPr lang="en-US" sz="1200" dirty="0">
                <a:solidFill>
                  <a:srgbClr val="1E2433"/>
                </a:solidFill>
              </a:rPr>
              <a:t>Opens the case and records the stated need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+"/>
            </a:pPr>
            <a:r>
              <a:rPr lang="en-US" sz="1200" dirty="0">
                <a:solidFill>
                  <a:srgbClr val="1E2433"/>
                </a:solidFill>
              </a:rPr>
              <a:t>Collects and uploads reports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+"/>
            </a:pPr>
            <a:r>
              <a:rPr lang="en-US" sz="1200" dirty="0">
                <a:solidFill>
                  <a:srgbClr val="1E2433"/>
                </a:solidFill>
              </a:rPr>
              <a:t>Logs every call and WhatsApp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+"/>
            </a:pPr>
            <a:r>
              <a:rPr lang="en-US" sz="1200" dirty="0">
                <a:solidFill>
                  <a:srgbClr val="1E2433"/>
                </a:solidFill>
              </a:rPr>
              <a:t>Keeps the family updated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" y="5440680"/>
            <a:ext cx="2099234" cy="0"/>
          </a:xfrm>
          <a:prstGeom prst="line">
            <a:avLst/>
          </a:prstGeom>
          <a:noFill/>
          <a:ln w="9525">
            <a:solidFill>
              <a:srgbClr val="E4E7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5550408"/>
            <a:ext cx="20992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67085"/>
                </a:solidFill>
              </a:rPr>
              <a:t>MAIN SCREENS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5779008"/>
            <a:ext cx="21906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433"/>
                </a:solidFill>
              </a:rPr>
              <a:t>Overview · Records · Communication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333674" y="1600200"/>
            <a:ext cx="2647874" cy="4663440"/>
          </a:xfrm>
          <a:prstGeom prst="roundRect">
            <a:avLst>
              <a:gd name="adj" fmla="val 4835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470834" y="1737360"/>
            <a:ext cx="2373554" cy="1508760"/>
          </a:xfrm>
          <a:prstGeom prst="roundRect">
            <a:avLst>
              <a:gd name="adj" fmla="val 6061"/>
            </a:avLst>
          </a:prstGeom>
          <a:solidFill>
            <a:srgbClr val="E9F0FA"/>
          </a:solidFill>
          <a:ln/>
        </p:spPr>
      </p:sp>
      <p:sp>
        <p:nvSpPr>
          <p:cNvPr id="17" name="Shape 14"/>
          <p:cNvSpPr/>
          <p:nvPr/>
        </p:nvSpPr>
        <p:spPr>
          <a:xfrm>
            <a:off x="3653714" y="1901952"/>
            <a:ext cx="566928" cy="566928"/>
          </a:xfrm>
          <a:prstGeom prst="ellipse">
            <a:avLst/>
          </a:prstGeom>
          <a:solidFill>
            <a:srgbClr val="3566AC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5446" y="2043684"/>
            <a:ext cx="283464" cy="283464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4609948" y="202996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4609948" y="202996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566AC"/>
                </a:solidFill>
              </a:rPr>
              <a:t>Stages 3–7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3653714" y="2578608"/>
            <a:ext cx="209923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433"/>
                </a:solidFill>
              </a:rPr>
              <a:t>Thailand coordinator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3607994" y="3474720"/>
            <a:ext cx="219067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+"/>
            </a:pPr>
            <a:r>
              <a:rPr lang="en-US" sz="1200" dirty="0">
                <a:solidFill>
                  <a:srgbClr val="1E2433"/>
                </a:solidFill>
              </a:rPr>
              <a:t>Sends reports to hospitals and chases replies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+"/>
            </a:pPr>
            <a:r>
              <a:rPr lang="en-US" sz="1200" dirty="0">
                <a:solidFill>
                  <a:srgbClr val="1E2433"/>
                </a:solidFill>
              </a:rPr>
              <a:t>Confirms doctor and appointment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+"/>
            </a:pPr>
            <a:r>
              <a:rPr lang="en-US" sz="1200" dirty="0">
                <a:solidFill>
                  <a:srgbClr val="1E2433"/>
                </a:solidFill>
              </a:rPr>
              <a:t>Books stay, transfers and interpreter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+"/>
            </a:pPr>
            <a:r>
              <a:rPr lang="en-US" sz="1200" dirty="0">
                <a:solidFill>
                  <a:srgbClr val="1E2433"/>
                </a:solidFill>
              </a:rPr>
              <a:t>Writes handover notes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3607994" y="5440680"/>
            <a:ext cx="2099234" cy="0"/>
          </a:xfrm>
          <a:prstGeom prst="line">
            <a:avLst/>
          </a:prstGeom>
          <a:noFill/>
          <a:ln w="9525">
            <a:solidFill>
              <a:srgbClr val="E4E7EC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3607994" y="5550408"/>
            <a:ext cx="20992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67085"/>
                </a:solidFill>
              </a:rPr>
              <a:t>MAIN SCREENS</a:t>
            </a:r>
            <a:endParaRPr lang="en-US" sz="850" dirty="0"/>
          </a:p>
        </p:txBody>
      </p:sp>
      <p:sp>
        <p:nvSpPr>
          <p:cNvPr id="25" name="Text 21"/>
          <p:cNvSpPr txBox="1"/>
          <p:nvPr/>
        </p:nvSpPr>
        <p:spPr>
          <a:xfrm>
            <a:off x="3607994" y="5779008"/>
            <a:ext cx="21906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433"/>
                </a:solidFill>
              </a:rPr>
              <a:t>Hospital · Thailand assistance · Tasks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210148" y="1600200"/>
            <a:ext cx="2647874" cy="4663440"/>
          </a:xfrm>
          <a:prstGeom prst="roundRect">
            <a:avLst>
              <a:gd name="adj" fmla="val 4835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347308" y="1737360"/>
            <a:ext cx="2373554" cy="1508760"/>
          </a:xfrm>
          <a:prstGeom prst="roundRect">
            <a:avLst>
              <a:gd name="adj" fmla="val 6061"/>
            </a:avLst>
          </a:prstGeom>
          <a:solidFill>
            <a:srgbClr val="FDF4E3"/>
          </a:solidFill>
          <a:ln/>
        </p:spPr>
      </p:sp>
      <p:sp>
        <p:nvSpPr>
          <p:cNvPr id="28" name="Shape 24"/>
          <p:cNvSpPr/>
          <p:nvPr/>
        </p:nvSpPr>
        <p:spPr>
          <a:xfrm>
            <a:off x="6530188" y="1901952"/>
            <a:ext cx="566928" cy="566928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920" y="2043684"/>
            <a:ext cx="283464" cy="283464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7486421" y="202996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7486421" y="202996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7791F"/>
                </a:solidFill>
              </a:rPr>
              <a:t>Stages 4–8</a:t>
            </a:r>
            <a:endParaRPr lang="en-US" sz="950" dirty="0"/>
          </a:p>
        </p:txBody>
      </p:sp>
      <p:sp>
        <p:nvSpPr>
          <p:cNvPr id="32" name="Text 27"/>
          <p:cNvSpPr txBox="1"/>
          <p:nvPr/>
        </p:nvSpPr>
        <p:spPr>
          <a:xfrm>
            <a:off x="6530188" y="2578608"/>
            <a:ext cx="209923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433"/>
                </a:solidFill>
              </a:rPr>
              <a:t>Accounts officer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6484468" y="3474720"/>
            <a:ext cx="219067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+"/>
            </a:pPr>
            <a:r>
              <a:rPr lang="en-US" sz="1200" dirty="0">
                <a:solidFill>
                  <a:srgbClr val="1E2433"/>
                </a:solidFill>
              </a:rPr>
              <a:t>Adds visa, ticket, hotel and package charges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+"/>
            </a:pPr>
            <a:r>
              <a:rPr lang="en-US" sz="1200" dirty="0">
                <a:solidFill>
                  <a:srgbClr val="1E2433"/>
                </a:solidFill>
              </a:rPr>
              <a:t>Issues quotation and invoice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+"/>
            </a:pPr>
            <a:r>
              <a:rPr lang="en-US" sz="1200" dirty="0">
                <a:solidFill>
                  <a:srgbClr val="1E2433"/>
                </a:solidFill>
              </a:rPr>
              <a:t>Records payments and refunds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+"/>
            </a:pPr>
            <a:r>
              <a:rPr lang="en-US" sz="1200" dirty="0">
                <a:solidFill>
                  <a:srgbClr val="1E2433"/>
                </a:solidFill>
              </a:rPr>
              <a:t>Tracks supplier costs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6484468" y="5440680"/>
            <a:ext cx="2099234" cy="0"/>
          </a:xfrm>
          <a:prstGeom prst="line">
            <a:avLst/>
          </a:prstGeom>
          <a:noFill/>
          <a:ln w="9525">
            <a:solidFill>
              <a:srgbClr val="E4E7EC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6484468" y="5550408"/>
            <a:ext cx="20992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67085"/>
                </a:solidFill>
              </a:rPr>
              <a:t>MAIN SCREENS</a:t>
            </a:r>
            <a:endParaRPr lang="en-US" sz="850" dirty="0"/>
          </a:p>
        </p:txBody>
      </p:sp>
      <p:sp>
        <p:nvSpPr>
          <p:cNvPr id="36" name="Text 31"/>
          <p:cNvSpPr txBox="1"/>
          <p:nvPr/>
        </p:nvSpPr>
        <p:spPr>
          <a:xfrm>
            <a:off x="6484468" y="5779008"/>
            <a:ext cx="21906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433"/>
                </a:solidFill>
              </a:rPr>
              <a:t>Accounts &amp; billing · Statements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9086621" y="1600200"/>
            <a:ext cx="2647874" cy="4663440"/>
          </a:xfrm>
          <a:prstGeom prst="roundRect">
            <a:avLst>
              <a:gd name="adj" fmla="val 4835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9223781" y="1737360"/>
            <a:ext cx="2373554" cy="1508760"/>
          </a:xfrm>
          <a:prstGeom prst="roundRect">
            <a:avLst>
              <a:gd name="adj" fmla="val 6061"/>
            </a:avLst>
          </a:prstGeom>
          <a:solidFill>
            <a:srgbClr val="E3F3F6"/>
          </a:solidFill>
          <a:ln/>
        </p:spPr>
      </p:sp>
      <p:sp>
        <p:nvSpPr>
          <p:cNvPr id="39" name="Shape 34"/>
          <p:cNvSpPr/>
          <p:nvPr/>
        </p:nvSpPr>
        <p:spPr>
          <a:xfrm>
            <a:off x="9406661" y="1901952"/>
            <a:ext cx="566928" cy="566928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8393" y="2043684"/>
            <a:ext cx="283464" cy="283464"/>
          </a:xfrm>
          <a:prstGeom prst="rect">
            <a:avLst/>
          </a:prstGeom>
        </p:spPr>
      </p:pic>
      <p:sp>
        <p:nvSpPr>
          <p:cNvPr id="41" name="Shape 35"/>
          <p:cNvSpPr/>
          <p:nvPr/>
        </p:nvSpPr>
        <p:spPr>
          <a:xfrm>
            <a:off x="10362895" y="202996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2" name="Text 36"/>
          <p:cNvSpPr txBox="1"/>
          <p:nvPr/>
        </p:nvSpPr>
        <p:spPr>
          <a:xfrm>
            <a:off x="10362895" y="202996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490"/>
                </a:solidFill>
              </a:rPr>
              <a:t>All stages</a:t>
            </a:r>
            <a:endParaRPr lang="en-US" sz="950" dirty="0"/>
          </a:p>
        </p:txBody>
      </p:sp>
      <p:sp>
        <p:nvSpPr>
          <p:cNvPr id="43" name="Text 37"/>
          <p:cNvSpPr txBox="1"/>
          <p:nvPr/>
        </p:nvSpPr>
        <p:spPr>
          <a:xfrm>
            <a:off x="9406661" y="2578608"/>
            <a:ext cx="209923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433"/>
                </a:solidFill>
              </a:rPr>
              <a:t>Manager &amp; admin</a:t>
            </a:r>
            <a:endParaRPr lang="en-US" sz="1400" dirty="0"/>
          </a:p>
        </p:txBody>
      </p:sp>
      <p:sp>
        <p:nvSpPr>
          <p:cNvPr id="44" name="Text 38"/>
          <p:cNvSpPr txBox="1"/>
          <p:nvPr/>
        </p:nvSpPr>
        <p:spPr>
          <a:xfrm>
            <a:off x="9360941" y="3474720"/>
            <a:ext cx="219067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+"/>
            </a:pPr>
            <a:r>
              <a:rPr lang="en-US" sz="1200" dirty="0">
                <a:solidFill>
                  <a:srgbClr val="1E2433"/>
                </a:solidFill>
              </a:rPr>
              <a:t>Watches the dashboard and stage counts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+"/>
            </a:pPr>
            <a:r>
              <a:rPr lang="en-US" sz="1200" dirty="0">
                <a:solidFill>
                  <a:srgbClr val="1E2433"/>
                </a:solidFill>
              </a:rPr>
              <a:t>Reviews accounts and profit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+"/>
            </a:pPr>
            <a:r>
              <a:rPr lang="en-US" sz="1200" dirty="0">
                <a:solidFill>
                  <a:srgbClr val="1E2433"/>
                </a:solidFill>
              </a:rPr>
              <a:t>Manages staff and permissions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+"/>
            </a:pPr>
            <a:r>
              <a:rPr lang="en-US" sz="1200" dirty="0">
                <a:solidFill>
                  <a:srgbClr val="1E2433"/>
                </a:solidFill>
              </a:rPr>
              <a:t>Checks the audit history</a:t>
            </a:r>
            <a:endParaRPr lang="en-US" sz="1200" dirty="0"/>
          </a:p>
        </p:txBody>
      </p:sp>
      <p:sp>
        <p:nvSpPr>
          <p:cNvPr id="45" name="Shape 39"/>
          <p:cNvSpPr/>
          <p:nvPr/>
        </p:nvSpPr>
        <p:spPr>
          <a:xfrm>
            <a:off x="9360941" y="5440680"/>
            <a:ext cx="2099234" cy="0"/>
          </a:xfrm>
          <a:prstGeom prst="line">
            <a:avLst/>
          </a:prstGeom>
          <a:noFill/>
          <a:ln w="9525">
            <a:solidFill>
              <a:srgbClr val="E4E7EC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9360941" y="5550408"/>
            <a:ext cx="20992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67085"/>
                </a:solidFill>
              </a:rPr>
              <a:t>MAIN SCREENS</a:t>
            </a:r>
            <a:endParaRPr lang="en-US" sz="850" dirty="0"/>
          </a:p>
        </p:txBody>
      </p:sp>
      <p:sp>
        <p:nvSpPr>
          <p:cNvPr id="47" name="Text 41"/>
          <p:cNvSpPr txBox="1"/>
          <p:nvPr/>
        </p:nvSpPr>
        <p:spPr>
          <a:xfrm>
            <a:off x="9360941" y="5779008"/>
            <a:ext cx="21906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433"/>
                </a:solidFill>
              </a:rPr>
              <a:t>Dashboard · Staff · Audit history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78163" y="1508760"/>
            <a:ext cx="1228954" cy="3840480"/>
          </a:xfrm>
          <a:prstGeom prst="rect">
            <a:avLst/>
          </a:prstGeom>
          <a:solidFill>
            <a:srgbClr val="B92F6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814523"/>
            <a:ext cx="3840480" cy="1228954"/>
          </a:xfrm>
          <a:prstGeom prst="rect">
            <a:avLst/>
          </a:prstGeom>
          <a:solidFill>
            <a:srgbClr val="B92F6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162995" y="457200"/>
            <a:ext cx="351130" cy="1097280"/>
          </a:xfrm>
          <a:prstGeom prst="rect">
            <a:avLst/>
          </a:prstGeom>
          <a:solidFill>
            <a:srgbClr val="B92F6E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0" y="830275"/>
            <a:ext cx="1097280" cy="351130"/>
          </a:xfrm>
          <a:prstGeom prst="rect">
            <a:avLst/>
          </a:prstGeom>
          <a:solidFill>
            <a:srgbClr val="B92F6E">
              <a:alpha val="30000"/>
            </a:srgbClr>
          </a:solidFill>
          <a:ln/>
        </p:spPr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640080" y="14173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B92F6E"/>
                </a:solidFill>
              </a:rPr>
              <a:t>03</a:t>
            </a:r>
            <a:endParaRPr lang="en-US" sz="9600" dirty="0"/>
          </a:p>
        </p:txBody>
      </p:sp>
      <p:sp>
        <p:nvSpPr>
          <p:cNvPr id="7" name="Text 0"/>
          <p:cNvSpPr/>
          <p:nvPr>
            <p:ph idx="102" type="title" hasCustomPrompt="1"/>
          </p:nvPr>
        </p:nvSpPr>
        <p:spPr>
          <a:xfrm>
            <a:off x="640080" y="27889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What to build next</a:t>
            </a:r>
            <a:endParaRPr lang="en-US" sz="4800" dirty="0"/>
          </a:p>
        </p:txBody>
      </p:sp>
      <p:sp>
        <p:nvSpPr>
          <p:cNvPr id="8" name="Text 0"/>
          <p:cNvSpPr/>
          <p:nvPr>
            <p:ph idx="103" type="body" hasCustomPrompt="1"/>
          </p:nvPr>
        </p:nvSpPr>
        <p:spPr>
          <a:xfrm>
            <a:off x="640080" y="3840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1E3"/>
                </a:solidFill>
              </a:rPr>
              <a:t>Recommended modules to turn the desk into a complete medical-visa operation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3840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92F6E"/>
                </a:solidFill>
              </a:rPr>
              <a:t>WHY ADD MORE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433"/>
                </a:solidFill>
              </a:rPr>
              <a:t>Where work still happens outside the 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524805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801368"/>
            <a:ext cx="603504" cy="603504"/>
          </a:xfrm>
          <a:prstGeom prst="ellipse">
            <a:avLst/>
          </a:prstGeom>
          <a:solidFill>
            <a:srgbClr val="FDED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1952244"/>
            <a:ext cx="301752" cy="3017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83080"/>
            <a:ext cx="429036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33"/>
                </a:solidFill>
              </a:rPr>
              <a:t>Hospitals typed by hand in each case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130552"/>
            <a:ext cx="429036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No price lists, comparison or partner contacts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0605" y="1600200"/>
            <a:ext cx="5524805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39205" y="1801368"/>
            <a:ext cx="603504" cy="603504"/>
          </a:xfrm>
          <a:prstGeom prst="ellipse">
            <a:avLst/>
          </a:prstGeom>
          <a:solidFill>
            <a:srgbClr val="FDEDE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0081" y="195224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2165" y="1783080"/>
            <a:ext cx="429036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33"/>
                </a:solidFill>
              </a:rPr>
              <a:t>Doctors aren't tracked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262165" y="2130552"/>
            <a:ext cx="429036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Hard to match a patient to the right specialist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819095"/>
            <a:ext cx="5524805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3020263"/>
            <a:ext cx="603504" cy="603504"/>
          </a:xfrm>
          <a:prstGeom prst="ellipse">
            <a:avLst/>
          </a:prstGeom>
          <a:solidFill>
            <a:srgbClr val="FDEDE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3171139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3001975"/>
            <a:ext cx="429036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33"/>
                </a:solidFill>
              </a:rPr>
              <a:t>No visa tracking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508760" y="3349447"/>
            <a:ext cx="429036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Missing documents surface late and delay travel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10605" y="2819095"/>
            <a:ext cx="5524805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39205" y="3020263"/>
            <a:ext cx="603504" cy="603504"/>
          </a:xfrm>
          <a:prstGeom prst="ellipse">
            <a:avLst/>
          </a:prstGeom>
          <a:solidFill>
            <a:srgbClr val="FDEDE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081" y="3171139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62165" y="3001975"/>
            <a:ext cx="429036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33"/>
                </a:solidFill>
              </a:rPr>
              <a:t>No agent records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7262165" y="3349447"/>
            <a:ext cx="429036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Can't see who referred a patient or pay commission fairly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4037990"/>
            <a:ext cx="5524805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85800" y="4239158"/>
            <a:ext cx="603504" cy="603504"/>
          </a:xfrm>
          <a:prstGeom prst="ellipse">
            <a:avLst/>
          </a:prstGeom>
          <a:solidFill>
            <a:srgbClr val="FDEDE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" y="4390034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508760" y="4220870"/>
            <a:ext cx="429036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33"/>
                </a:solidFill>
              </a:rPr>
              <a:t>Inquiries arrive scattered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1508760" y="4568342"/>
            <a:ext cx="429036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Facebook, website and phone leads slip away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210605" y="4037990"/>
            <a:ext cx="5524805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39205" y="4239158"/>
            <a:ext cx="603504" cy="603504"/>
          </a:xfrm>
          <a:prstGeom prst="ellipse">
            <a:avLst/>
          </a:prstGeom>
          <a:solidFill>
            <a:srgbClr val="FDEDE5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0081" y="4390034"/>
            <a:ext cx="301752" cy="30175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262165" y="4220870"/>
            <a:ext cx="429036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33"/>
                </a:solidFill>
              </a:rPr>
              <a:t>Patients can't see their status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7262165" y="4568342"/>
            <a:ext cx="429036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Repeated calls and WhatsApp messages to staff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457200" y="5256886"/>
            <a:ext cx="5524805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85800" y="5458054"/>
            <a:ext cx="603504" cy="603504"/>
          </a:xfrm>
          <a:prstGeom prst="ellipse">
            <a:avLst/>
          </a:prstGeom>
          <a:solidFill>
            <a:srgbClr val="FDEDE5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76" y="5608930"/>
            <a:ext cx="301752" cy="301752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508760" y="5439766"/>
            <a:ext cx="429036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33"/>
                </a:solidFill>
              </a:rPr>
              <a:t>No templates or reminders</a:t>
            </a:r>
            <a:endParaRPr lang="en-US" sz="1400" dirty="0"/>
          </a:p>
        </p:txBody>
      </p:sp>
      <p:sp>
        <p:nvSpPr>
          <p:cNvPr id="38" name="Text 29"/>
          <p:cNvSpPr txBox="1"/>
          <p:nvPr/>
        </p:nvSpPr>
        <p:spPr>
          <a:xfrm>
            <a:off x="1508760" y="5787238"/>
            <a:ext cx="429036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Replies are slow and inconsistent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6210605" y="5256886"/>
            <a:ext cx="5524805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6439205" y="5458054"/>
            <a:ext cx="603504" cy="603504"/>
          </a:xfrm>
          <a:prstGeom prst="ellipse">
            <a:avLst/>
          </a:prstGeom>
          <a:solidFill>
            <a:srgbClr val="FDEDE5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0081" y="5608930"/>
            <a:ext cx="301752" cy="301752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7262165" y="5439766"/>
            <a:ext cx="429036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33"/>
                </a:solidFill>
              </a:rPr>
              <a:t>No business reports</a:t>
            </a:r>
            <a:endParaRPr lang="en-US" sz="1400" dirty="0"/>
          </a:p>
        </p:txBody>
      </p:sp>
      <p:sp>
        <p:nvSpPr>
          <p:cNvPr id="43" name="Text 33"/>
          <p:cNvSpPr txBox="1"/>
          <p:nvPr/>
        </p:nvSpPr>
        <p:spPr>
          <a:xfrm>
            <a:off x="7262165" y="5787238"/>
            <a:ext cx="429036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No view of conversion or profit by hospital or agent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3840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92F6E"/>
                </a:solidFill>
              </a:rPr>
              <a:t>RECOMMENDED MODULES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433"/>
                </a:solidFill>
              </a:rPr>
              <a:t>Twelve new modules across four pillars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2647874" cy="868680"/>
          </a:xfrm>
          <a:prstGeom prst="roundRect">
            <a:avLst>
              <a:gd name="adj" fmla="val 14737"/>
            </a:avLst>
          </a:prstGeom>
          <a:solidFill>
            <a:srgbClr val="B92F6E"/>
          </a:solidFill>
          <a:ln/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664208"/>
            <a:ext cx="228211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Partner network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11680"/>
            <a:ext cx="22821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The people we work with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624328"/>
            <a:ext cx="2647874" cy="1069848"/>
          </a:xfrm>
          <a:prstGeom prst="roundRect">
            <a:avLst>
              <a:gd name="adj" fmla="val 11966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825496"/>
            <a:ext cx="457200" cy="457200"/>
          </a:xfrm>
          <a:prstGeom prst="ellipse">
            <a:avLst/>
          </a:prstGeom>
          <a:solidFill>
            <a:srgbClr val="FBEAF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2939796"/>
            <a:ext cx="228600" cy="2286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07008" y="2788920"/>
            <a:ext cx="1779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3"/>
                </a:solidFill>
              </a:rPr>
              <a:t>Hospital directory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300984"/>
            <a:ext cx="23278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Partner hospitals, departments, packages, contacts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57200" y="3840480"/>
            <a:ext cx="2647874" cy="1069848"/>
          </a:xfrm>
          <a:prstGeom prst="roundRect">
            <a:avLst>
              <a:gd name="adj" fmla="val 11966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0080" y="4041648"/>
            <a:ext cx="457200" cy="457200"/>
          </a:xfrm>
          <a:prstGeom prst="ellipse">
            <a:avLst/>
          </a:prstGeom>
          <a:solidFill>
            <a:srgbClr val="FBEAF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4155948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207008" y="4005072"/>
            <a:ext cx="1779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3"/>
                </a:solidFill>
              </a:rPr>
              <a:t>Doctor management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4517136"/>
            <a:ext cx="23278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Specialists, schedules, languages, outcomes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57200" y="5056632"/>
            <a:ext cx="2647874" cy="1069848"/>
          </a:xfrm>
          <a:prstGeom prst="roundRect">
            <a:avLst>
              <a:gd name="adj" fmla="val 11966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0080" y="5257800"/>
            <a:ext cx="457200" cy="457200"/>
          </a:xfrm>
          <a:prstGeom prst="ellipse">
            <a:avLst/>
          </a:prstGeom>
          <a:solidFill>
            <a:srgbClr val="FBEAF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5372100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07008" y="5221224"/>
            <a:ext cx="1779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3"/>
                </a:solidFill>
              </a:rPr>
              <a:t>Agent network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40080" y="5733288"/>
            <a:ext cx="23278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Referrals, commissions, agent self-view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333674" y="1572768"/>
            <a:ext cx="2647874" cy="868680"/>
          </a:xfrm>
          <a:prstGeom prst="roundRect">
            <a:avLst>
              <a:gd name="adj" fmla="val 14737"/>
            </a:avLst>
          </a:prstGeom>
          <a:solidFill>
            <a:srgbClr val="3566AC"/>
          </a:solidFill>
          <a:ln/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3562274" y="1664208"/>
            <a:ext cx="228211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Patient journey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3562274" y="2011680"/>
            <a:ext cx="22821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From first inquiry to visa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3333674" y="2624328"/>
            <a:ext cx="2647874" cy="1069848"/>
          </a:xfrm>
          <a:prstGeom prst="roundRect">
            <a:avLst>
              <a:gd name="adj" fmla="val 11966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3516554" y="2825496"/>
            <a:ext cx="457200" cy="457200"/>
          </a:xfrm>
          <a:prstGeom prst="ellipse">
            <a:avLst/>
          </a:prstGeom>
          <a:solidFill>
            <a:srgbClr val="E9F0FA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854" y="2939796"/>
            <a:ext cx="228600" cy="2286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083482" y="2788920"/>
            <a:ext cx="1779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3"/>
                </a:solidFill>
              </a:rPr>
              <a:t>Lead &amp; inquiry hub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3516554" y="3300984"/>
            <a:ext cx="23278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Every inquiry captured, sourced and followed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3333674" y="3840480"/>
            <a:ext cx="2647874" cy="1069848"/>
          </a:xfrm>
          <a:prstGeom prst="roundRect">
            <a:avLst>
              <a:gd name="adj" fmla="val 11966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516554" y="4041648"/>
            <a:ext cx="457200" cy="457200"/>
          </a:xfrm>
          <a:prstGeom prst="ellipse">
            <a:avLst/>
          </a:prstGeom>
          <a:solidFill>
            <a:srgbClr val="E9F0FA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0854" y="4155948"/>
            <a:ext cx="228600" cy="22860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4083482" y="4005072"/>
            <a:ext cx="1779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3"/>
                </a:solidFill>
              </a:rPr>
              <a:t>Medical visa desk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3516554" y="4517136"/>
            <a:ext cx="23278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Checklists, embassy status, reminders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3333674" y="5056632"/>
            <a:ext cx="2647874" cy="1069848"/>
          </a:xfrm>
          <a:prstGeom prst="roundRect">
            <a:avLst>
              <a:gd name="adj" fmla="val 11966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3516554" y="5257800"/>
            <a:ext cx="457200" cy="457200"/>
          </a:xfrm>
          <a:prstGeom prst="ellipse">
            <a:avLst/>
          </a:prstGeom>
          <a:solidFill>
            <a:srgbClr val="E9F0FA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0854" y="5372100"/>
            <a:ext cx="228600" cy="22860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4083482" y="5221224"/>
            <a:ext cx="1779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3"/>
                </a:solidFill>
              </a:rPr>
              <a:t>Patient &amp; family portal</a:t>
            </a:r>
            <a:endParaRPr lang="en-US" sz="1200" dirty="0"/>
          </a:p>
        </p:txBody>
      </p:sp>
      <p:sp>
        <p:nvSpPr>
          <p:cNvPr id="39" name="Text 31"/>
          <p:cNvSpPr txBox="1"/>
          <p:nvPr/>
        </p:nvSpPr>
        <p:spPr>
          <a:xfrm>
            <a:off x="3516554" y="5733288"/>
            <a:ext cx="23278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Status, uploads and invoices on the phone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6210148" y="1572768"/>
            <a:ext cx="2647874" cy="868680"/>
          </a:xfrm>
          <a:prstGeom prst="roundRect">
            <a:avLst>
              <a:gd name="adj" fmla="val 14737"/>
            </a:avLst>
          </a:prstGeom>
          <a:solidFill>
            <a:srgbClr val="0E7490"/>
          </a:solidFill>
          <a:ln/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41" name="Text 33"/>
          <p:cNvSpPr txBox="1"/>
          <p:nvPr/>
        </p:nvSpPr>
        <p:spPr>
          <a:xfrm>
            <a:off x="6438748" y="1664208"/>
            <a:ext cx="228211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Service delivery</a:t>
            </a:r>
            <a:endParaRPr lang="en-US" sz="1500" dirty="0"/>
          </a:p>
        </p:txBody>
      </p:sp>
      <p:sp>
        <p:nvSpPr>
          <p:cNvPr id="42" name="Text 34"/>
          <p:cNvSpPr txBox="1"/>
          <p:nvPr/>
        </p:nvSpPr>
        <p:spPr>
          <a:xfrm>
            <a:off x="6438748" y="2011680"/>
            <a:ext cx="22821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Packages, suppliers, ground</a:t>
            </a:r>
            <a:endParaRPr lang="en-US" sz="1050" dirty="0"/>
          </a:p>
        </p:txBody>
      </p:sp>
      <p:sp>
        <p:nvSpPr>
          <p:cNvPr id="43" name="Shape 35"/>
          <p:cNvSpPr/>
          <p:nvPr/>
        </p:nvSpPr>
        <p:spPr>
          <a:xfrm>
            <a:off x="6210148" y="2624328"/>
            <a:ext cx="2647874" cy="1069848"/>
          </a:xfrm>
          <a:prstGeom prst="roundRect">
            <a:avLst>
              <a:gd name="adj" fmla="val 11966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44" name="Shape 36"/>
          <p:cNvSpPr/>
          <p:nvPr/>
        </p:nvSpPr>
        <p:spPr>
          <a:xfrm>
            <a:off x="6393028" y="2825496"/>
            <a:ext cx="457200" cy="457200"/>
          </a:xfrm>
          <a:prstGeom prst="ellipse">
            <a:avLst/>
          </a:prstGeom>
          <a:solidFill>
            <a:srgbClr val="E3F3F6"/>
          </a:solidFill>
          <a:ln/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7328" y="2939796"/>
            <a:ext cx="228600" cy="228600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6959956" y="2788920"/>
            <a:ext cx="1779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3"/>
                </a:solidFill>
              </a:rPr>
              <a:t>Packages &amp; quote compare</a:t>
            </a:r>
            <a:endParaRPr lang="en-US" sz="1200" dirty="0"/>
          </a:p>
        </p:txBody>
      </p:sp>
      <p:sp>
        <p:nvSpPr>
          <p:cNvPr id="47" name="Text 38"/>
          <p:cNvSpPr txBox="1"/>
          <p:nvPr/>
        </p:nvSpPr>
        <p:spPr>
          <a:xfrm>
            <a:off x="6393028" y="3300984"/>
            <a:ext cx="23278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Send once, compare hospital quotes</a:t>
            </a:r>
            <a:endParaRPr lang="en-US" sz="950" dirty="0"/>
          </a:p>
        </p:txBody>
      </p:sp>
      <p:sp>
        <p:nvSpPr>
          <p:cNvPr id="48" name="Shape 39"/>
          <p:cNvSpPr/>
          <p:nvPr/>
        </p:nvSpPr>
        <p:spPr>
          <a:xfrm>
            <a:off x="6210148" y="3840480"/>
            <a:ext cx="2647874" cy="1069848"/>
          </a:xfrm>
          <a:prstGeom prst="roundRect">
            <a:avLst>
              <a:gd name="adj" fmla="val 11966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49" name="Shape 40"/>
          <p:cNvSpPr/>
          <p:nvPr/>
        </p:nvSpPr>
        <p:spPr>
          <a:xfrm>
            <a:off x="6393028" y="4041648"/>
            <a:ext cx="457200" cy="457200"/>
          </a:xfrm>
          <a:prstGeom prst="ellipse">
            <a:avLst/>
          </a:prstGeom>
          <a:solidFill>
            <a:srgbClr val="E3F3F6"/>
          </a:solidFill>
          <a:ln/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7328" y="4155948"/>
            <a:ext cx="228600" cy="228600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6959956" y="4005072"/>
            <a:ext cx="1779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3"/>
                </a:solidFill>
              </a:rPr>
              <a:t>Supplier &amp; vendor hub</a:t>
            </a:r>
            <a:endParaRPr lang="en-US" sz="1200" dirty="0"/>
          </a:p>
        </p:txBody>
      </p:sp>
      <p:sp>
        <p:nvSpPr>
          <p:cNvPr id="52" name="Text 42"/>
          <p:cNvSpPr txBox="1"/>
          <p:nvPr/>
        </p:nvSpPr>
        <p:spPr>
          <a:xfrm>
            <a:off x="6393028" y="4517136"/>
            <a:ext cx="23278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Hotels, airlines, transport, interpreters</a:t>
            </a:r>
            <a:endParaRPr lang="en-US" sz="950" dirty="0"/>
          </a:p>
        </p:txBody>
      </p:sp>
      <p:sp>
        <p:nvSpPr>
          <p:cNvPr id="53" name="Shape 43"/>
          <p:cNvSpPr/>
          <p:nvPr/>
        </p:nvSpPr>
        <p:spPr>
          <a:xfrm>
            <a:off x="6210148" y="5056632"/>
            <a:ext cx="2647874" cy="1069848"/>
          </a:xfrm>
          <a:prstGeom prst="roundRect">
            <a:avLst>
              <a:gd name="adj" fmla="val 11966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54" name="Shape 44"/>
          <p:cNvSpPr/>
          <p:nvPr/>
        </p:nvSpPr>
        <p:spPr>
          <a:xfrm>
            <a:off x="6393028" y="5257800"/>
            <a:ext cx="457200" cy="457200"/>
          </a:xfrm>
          <a:prstGeom prst="ellipse">
            <a:avLst/>
          </a:prstGeom>
          <a:solidFill>
            <a:srgbClr val="E3F3F6"/>
          </a:solidFill>
          <a:ln/>
        </p:spPr>
      </p:sp>
      <p:pic>
        <p:nvPicPr>
          <p:cNvPr id="5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7328" y="5372100"/>
            <a:ext cx="228600" cy="228600"/>
          </a:xfrm>
          <a:prstGeom prst="rect">
            <a:avLst/>
          </a:prstGeom>
        </p:spPr>
      </p:pic>
      <p:sp>
        <p:nvSpPr>
          <p:cNvPr id="56" name="Text 45"/>
          <p:cNvSpPr txBox="1"/>
          <p:nvPr/>
        </p:nvSpPr>
        <p:spPr>
          <a:xfrm>
            <a:off x="6959956" y="5221224"/>
            <a:ext cx="1779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3"/>
                </a:solidFill>
              </a:rPr>
              <a:t>Thailand ground services</a:t>
            </a:r>
            <a:endParaRPr lang="en-US" sz="1200" dirty="0"/>
          </a:p>
        </p:txBody>
      </p:sp>
      <p:sp>
        <p:nvSpPr>
          <p:cNvPr id="57" name="Text 46"/>
          <p:cNvSpPr txBox="1"/>
          <p:nvPr/>
        </p:nvSpPr>
        <p:spPr>
          <a:xfrm>
            <a:off x="6393028" y="5733288"/>
            <a:ext cx="23278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Pickups, interpreters, daily schedule</a:t>
            </a:r>
            <a:endParaRPr lang="en-US" sz="950" dirty="0"/>
          </a:p>
        </p:txBody>
      </p:sp>
      <p:sp>
        <p:nvSpPr>
          <p:cNvPr id="58" name="Shape 47"/>
          <p:cNvSpPr/>
          <p:nvPr/>
        </p:nvSpPr>
        <p:spPr>
          <a:xfrm>
            <a:off x="9086621" y="1572768"/>
            <a:ext cx="2647874" cy="868680"/>
          </a:xfrm>
          <a:prstGeom prst="roundRect">
            <a:avLst>
              <a:gd name="adj" fmla="val 14737"/>
            </a:avLst>
          </a:prstGeom>
          <a:solidFill>
            <a:srgbClr val="B7791F"/>
          </a:solidFill>
          <a:ln/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59" name="Text 48"/>
          <p:cNvSpPr txBox="1"/>
          <p:nvPr/>
        </p:nvSpPr>
        <p:spPr>
          <a:xfrm>
            <a:off x="9315221" y="1664208"/>
            <a:ext cx="228211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Care &amp; growth</a:t>
            </a:r>
            <a:endParaRPr lang="en-US" sz="1500" dirty="0"/>
          </a:p>
        </p:txBody>
      </p:sp>
      <p:sp>
        <p:nvSpPr>
          <p:cNvPr id="60" name="Text 49"/>
          <p:cNvSpPr txBox="1"/>
          <p:nvPr/>
        </p:nvSpPr>
        <p:spPr>
          <a:xfrm>
            <a:off x="9315221" y="2011680"/>
            <a:ext cx="22821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Retain, learn, grow</a:t>
            </a:r>
            <a:endParaRPr lang="en-US" sz="1050" dirty="0"/>
          </a:p>
        </p:txBody>
      </p:sp>
      <p:sp>
        <p:nvSpPr>
          <p:cNvPr id="61" name="Shape 50"/>
          <p:cNvSpPr/>
          <p:nvPr/>
        </p:nvSpPr>
        <p:spPr>
          <a:xfrm>
            <a:off x="9086621" y="2624328"/>
            <a:ext cx="2647874" cy="1069848"/>
          </a:xfrm>
          <a:prstGeom prst="roundRect">
            <a:avLst>
              <a:gd name="adj" fmla="val 11966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62" name="Shape 51"/>
          <p:cNvSpPr/>
          <p:nvPr/>
        </p:nvSpPr>
        <p:spPr>
          <a:xfrm>
            <a:off x="9269501" y="2825496"/>
            <a:ext cx="457200" cy="457200"/>
          </a:xfrm>
          <a:prstGeom prst="ellipse">
            <a:avLst/>
          </a:prstGeom>
          <a:solidFill>
            <a:srgbClr val="FDF4E3"/>
          </a:solidFill>
          <a:ln/>
        </p:spPr>
      </p:sp>
      <p:pic>
        <p:nvPicPr>
          <p:cNvPr id="6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83801" y="2939796"/>
            <a:ext cx="228600" cy="228600"/>
          </a:xfrm>
          <a:prstGeom prst="rect">
            <a:avLst/>
          </a:prstGeom>
        </p:spPr>
      </p:pic>
      <p:sp>
        <p:nvSpPr>
          <p:cNvPr id="64" name="Text 52"/>
          <p:cNvSpPr txBox="1"/>
          <p:nvPr/>
        </p:nvSpPr>
        <p:spPr>
          <a:xfrm>
            <a:off x="9836429" y="2788920"/>
            <a:ext cx="1779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3"/>
                </a:solidFill>
              </a:rPr>
              <a:t>Aftercare &amp; feedback</a:t>
            </a:r>
            <a:endParaRPr lang="en-US" sz="1200" dirty="0"/>
          </a:p>
        </p:txBody>
      </p:sp>
      <p:sp>
        <p:nvSpPr>
          <p:cNvPr id="65" name="Text 53"/>
          <p:cNvSpPr txBox="1"/>
          <p:nvPr/>
        </p:nvSpPr>
        <p:spPr>
          <a:xfrm>
            <a:off x="9269501" y="3300984"/>
            <a:ext cx="23278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Post-return check-ins, reviews, ratings</a:t>
            </a:r>
            <a:endParaRPr lang="en-US" sz="950" dirty="0"/>
          </a:p>
        </p:txBody>
      </p:sp>
      <p:sp>
        <p:nvSpPr>
          <p:cNvPr id="66" name="Shape 54"/>
          <p:cNvSpPr/>
          <p:nvPr/>
        </p:nvSpPr>
        <p:spPr>
          <a:xfrm>
            <a:off x="9086621" y="3840480"/>
            <a:ext cx="2647874" cy="1069848"/>
          </a:xfrm>
          <a:prstGeom prst="roundRect">
            <a:avLst>
              <a:gd name="adj" fmla="val 11966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67" name="Shape 55"/>
          <p:cNvSpPr/>
          <p:nvPr/>
        </p:nvSpPr>
        <p:spPr>
          <a:xfrm>
            <a:off x="9269501" y="4041648"/>
            <a:ext cx="457200" cy="457200"/>
          </a:xfrm>
          <a:prstGeom prst="ellipse">
            <a:avLst/>
          </a:prstGeom>
          <a:solidFill>
            <a:srgbClr val="FDF4E3"/>
          </a:solidFill>
          <a:ln/>
        </p:spPr>
      </p:sp>
      <p:pic>
        <p:nvPicPr>
          <p:cNvPr id="6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83801" y="4155948"/>
            <a:ext cx="228600" cy="228600"/>
          </a:xfrm>
          <a:prstGeom prst="rect">
            <a:avLst/>
          </a:prstGeom>
        </p:spPr>
      </p:pic>
      <p:sp>
        <p:nvSpPr>
          <p:cNvPr id="69" name="Text 56"/>
          <p:cNvSpPr txBox="1"/>
          <p:nvPr/>
        </p:nvSpPr>
        <p:spPr>
          <a:xfrm>
            <a:off x="9836429" y="4005072"/>
            <a:ext cx="1779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3"/>
                </a:solidFill>
              </a:rPr>
              <a:t>Messaging &amp; reminders</a:t>
            </a:r>
            <a:endParaRPr lang="en-US" sz="1200" dirty="0"/>
          </a:p>
        </p:txBody>
      </p:sp>
      <p:sp>
        <p:nvSpPr>
          <p:cNvPr id="70" name="Text 57"/>
          <p:cNvSpPr txBox="1"/>
          <p:nvPr/>
        </p:nvSpPr>
        <p:spPr>
          <a:xfrm>
            <a:off x="9269501" y="4517136"/>
            <a:ext cx="23278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Bangla/English WhatsApp and email templates</a:t>
            </a:r>
            <a:endParaRPr lang="en-US" sz="950" dirty="0"/>
          </a:p>
        </p:txBody>
      </p:sp>
      <p:sp>
        <p:nvSpPr>
          <p:cNvPr id="71" name="Shape 58"/>
          <p:cNvSpPr/>
          <p:nvPr/>
        </p:nvSpPr>
        <p:spPr>
          <a:xfrm>
            <a:off x="9086621" y="5056632"/>
            <a:ext cx="2647874" cy="1069848"/>
          </a:xfrm>
          <a:prstGeom prst="roundRect">
            <a:avLst>
              <a:gd name="adj" fmla="val 11966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72" name="Shape 59"/>
          <p:cNvSpPr/>
          <p:nvPr/>
        </p:nvSpPr>
        <p:spPr>
          <a:xfrm>
            <a:off x="9269501" y="5257800"/>
            <a:ext cx="457200" cy="457200"/>
          </a:xfrm>
          <a:prstGeom prst="ellipse">
            <a:avLst/>
          </a:prstGeom>
          <a:solidFill>
            <a:srgbClr val="FDF4E3"/>
          </a:solidFill>
          <a:ln/>
        </p:spPr>
      </p:sp>
      <p:pic>
        <p:nvPicPr>
          <p:cNvPr id="7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83801" y="5372100"/>
            <a:ext cx="228600" cy="228600"/>
          </a:xfrm>
          <a:prstGeom prst="rect">
            <a:avLst/>
          </a:prstGeom>
        </p:spPr>
      </p:pic>
      <p:sp>
        <p:nvSpPr>
          <p:cNvPr id="74" name="Text 60"/>
          <p:cNvSpPr txBox="1"/>
          <p:nvPr/>
        </p:nvSpPr>
        <p:spPr>
          <a:xfrm>
            <a:off x="9836429" y="5221224"/>
            <a:ext cx="1779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3"/>
                </a:solidFill>
              </a:rPr>
              <a:t>Reports &amp; analytics</a:t>
            </a:r>
            <a:endParaRPr lang="en-US" sz="1200" dirty="0"/>
          </a:p>
        </p:txBody>
      </p:sp>
      <p:sp>
        <p:nvSpPr>
          <p:cNvPr id="75" name="Text 61"/>
          <p:cNvSpPr txBox="1"/>
          <p:nvPr/>
        </p:nvSpPr>
        <p:spPr>
          <a:xfrm>
            <a:off x="9269501" y="5733288"/>
            <a:ext cx="23278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Conversion, revenue and profit by source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3840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92F6E"/>
                </a:solidFill>
              </a:rPr>
              <a:t>SPOTLIGHT  ·  PARTNER NETWORK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433"/>
                </a:solidFill>
              </a:rPr>
              <a:t>Hospital directory and doctor management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86400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801368"/>
            <a:ext cx="512064" cy="512064"/>
          </a:xfrm>
          <a:prstGeom prst="ellipse">
            <a:avLst/>
          </a:prstGeom>
          <a:solidFill>
            <a:srgbClr val="FBEAF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929384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874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433"/>
                </a:solidFill>
              </a:rPr>
              <a:t>Hospital directory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441448"/>
            <a:ext cx="5074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</a:rPr>
              <a:t>Partner hospitals with departments, accreditation and location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</a:rPr>
              <a:t>Package price lists with validity dates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</a:rPr>
              <a:t>International-desk contacts and reply-time history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</a:rPr>
              <a:t>Pick a hospital from the list instead of typing it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4023360"/>
            <a:ext cx="5486400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5800" y="4224528"/>
            <a:ext cx="512064" cy="512064"/>
          </a:xfrm>
          <a:prstGeom prst="ellipse">
            <a:avLst/>
          </a:prstGeom>
          <a:solidFill>
            <a:srgbClr val="E9F0F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43525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4297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433"/>
                </a:solidFill>
              </a:rPr>
              <a:t>Doctor management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4864608"/>
            <a:ext cx="5074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</a:rPr>
              <a:t>Profiles: specialty, hospital, languages, clinic days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</a:rPr>
              <a:t>Match a case's stated need to the right specialist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</a:rPr>
              <a:t>See which doctor treated which patient, and outcomes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</a:rPr>
              <a:t>Request second opinions from several doctors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1600200"/>
            <a:ext cx="5516575" cy="4663440"/>
          </a:xfrm>
          <a:prstGeom prst="roundRect">
            <a:avLst>
              <a:gd name="adj" fmla="val 2745"/>
            </a:avLst>
          </a:prstGeom>
          <a:solidFill>
            <a:srgbClr val="1B2440"/>
          </a:solidFill>
          <a:ln/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6537960" y="18105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9BC3"/>
                </a:solidFill>
              </a:rPr>
              <a:t>SEND ONCE, COMPARE REPLIES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6537960" y="210312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One click shares a case with several hospitals; replies line up side by side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6537960" y="285292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B92F6E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537960" y="28529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Case reports + need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8412480" y="3044952"/>
            <a:ext cx="411480" cy="0"/>
          </a:xfrm>
          <a:prstGeom prst="line">
            <a:avLst/>
          </a:prstGeom>
          <a:noFill/>
          <a:ln w="19050">
            <a:solidFill>
              <a:srgbClr val="C9D1E3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8915400" y="2852928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263257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8915400" y="285292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Hospital A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9857232" y="2852928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263257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9857232" y="285292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Hospital B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10799064" y="2852928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263257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10799064" y="285292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Hospital C</a:t>
            </a:r>
            <a:endParaRPr lang="en-US" sz="9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3474720"/>
          <a:ext cx="489204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463040"/>
                <a:gridCol w="91440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D1E3"/>
                          </a:solidFill>
                        </a:rPr>
                        <a:t>Hospital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D1E3"/>
                          </a:solidFill>
                        </a:rPr>
                        <a:t>Package estimate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D1E3"/>
                          </a:solidFill>
                        </a:rPr>
                        <a:t>Reply in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D1E3"/>
                          </a:solidFill>
                        </a:rPr>
                        <a:t>Doctor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Hospital A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THB 180,000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2 days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Orthopaedics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5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EE0A8"/>
                          </a:solidFill>
                        </a:rPr>
                        <a:t>Hospital B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EE0A8"/>
                          </a:solidFill>
                        </a:rPr>
                        <a:t>THB 165,000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EE0A8"/>
                          </a:solidFill>
                        </a:rPr>
                        <a:t>1 day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EE0A8"/>
                          </a:solidFill>
                        </a:rPr>
                        <a:t>Orthopaedics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5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Hospital C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THB 210,000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4 days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Sports med.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57"/>
                    </a:solidFill>
                  </a:tcPr>
                </a:tc>
              </a:tr>
            </a:tbl>
          </a:graphicData>
        </a:graphic>
      </p:graphicFrame>
      <p:sp>
        <p:nvSpPr>
          <p:cNvPr id="27" name="Text 22"/>
          <p:cNvSpPr txBox="1"/>
          <p:nvPr/>
        </p:nvSpPr>
        <p:spPr>
          <a:xfrm>
            <a:off x="6537960" y="5074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C9D1E3"/>
                </a:solidFill>
              </a:rPr>
              <a:t>Illustrative example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6537960" y="53949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29BC3"/>
                </a:solidFill>
              </a:rPr>
              <a:t>Outcome: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the chosen reply becomes the patient's proposal and quotation, with no retyping.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3840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92F6E"/>
                </a:solidFill>
              </a:rPr>
              <a:t>SPOTLIGHT  ·  PARTNER NETWORK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433"/>
                </a:solidFill>
              </a:rPr>
              <a:t>Agent network with automatic commission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999427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783080"/>
            <a:ext cx="475488" cy="475488"/>
          </a:xfrm>
          <a:prstGeom prst="ellipse">
            <a:avLst/>
          </a:prstGeom>
          <a:solidFill>
            <a:srgbClr val="FBEAF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01952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8368" y="2359152"/>
            <a:ext cx="16336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433"/>
                </a:solidFill>
              </a:rPr>
              <a:t>Agent refers a patient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2816352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From a district agent or partner clinic</a:t>
            </a:r>
            <a:endParaRPr lang="en-US" sz="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635" y="2359152"/>
            <a:ext cx="201168" cy="2011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76667" y="1600200"/>
            <a:ext cx="1999427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977835" y="1783080"/>
            <a:ext cx="475488" cy="475488"/>
          </a:xfrm>
          <a:prstGeom prst="ellipse">
            <a:avLst/>
          </a:prstGeom>
          <a:solidFill>
            <a:srgbClr val="FBEAF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6707" y="190195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977835" y="2359152"/>
            <a:ext cx="16336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433"/>
                </a:solidFill>
              </a:rPr>
              <a:t>Case tagged to agent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2977835" y="2816352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Source saved on the case from day one</a:t>
            </a:r>
            <a:endParaRPr lang="en-US" sz="9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0102" y="2359152"/>
            <a:ext cx="201168" cy="20116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096134" y="1600200"/>
            <a:ext cx="1999427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5297302" y="1783080"/>
            <a:ext cx="475488" cy="475488"/>
          </a:xfrm>
          <a:prstGeom prst="ellipse">
            <a:avLst/>
          </a:prstGeom>
          <a:solidFill>
            <a:srgbClr val="FBEAF2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6174" y="1901952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297302" y="2359152"/>
            <a:ext cx="16336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433"/>
                </a:solidFill>
              </a:rPr>
              <a:t>Case reaches billing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5297302" y="2816352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Commission is triggered by the stage reached</a:t>
            </a:r>
            <a:endParaRPr lang="en-US" sz="9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9569" y="2359152"/>
            <a:ext cx="201168" cy="20116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415601" y="1600200"/>
            <a:ext cx="1999427" cy="1783080"/>
          </a:xfrm>
          <a:prstGeom prst="roundRect">
            <a:avLst>
              <a:gd name="adj" fmla="val 7179"/>
            </a:avLst>
          </a:prstGeom>
          <a:solidFill>
            <a:srgbClr val="B92F6E"/>
          </a:solidFill>
          <a:ln/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7616769" y="1783080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5641" y="1901952"/>
            <a:ext cx="237744" cy="237744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7616769" y="2359152"/>
            <a:ext cx="16336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Commission calculated</a:t>
            </a:r>
            <a:endParaRPr lang="en-US" sz="1200" dirty="0"/>
          </a:p>
        </p:txBody>
      </p:sp>
      <p:sp>
        <p:nvSpPr>
          <p:cNvPr id="26" name="Text 17"/>
          <p:cNvSpPr txBox="1"/>
          <p:nvPr/>
        </p:nvSpPr>
        <p:spPr>
          <a:xfrm>
            <a:off x="7616769" y="2816352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% or fixed, by agent, hospital or package</a:t>
            </a:r>
            <a:endParaRPr lang="en-US" sz="95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79036" y="2359152"/>
            <a:ext cx="201168" cy="201168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9735068" y="1600200"/>
            <a:ext cx="1999427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9936236" y="1783080"/>
            <a:ext cx="475488" cy="475488"/>
          </a:xfrm>
          <a:prstGeom prst="ellipse">
            <a:avLst/>
          </a:prstGeom>
          <a:solidFill>
            <a:srgbClr val="FBEAF2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55108" y="1901952"/>
            <a:ext cx="237744" cy="237744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9936236" y="2359152"/>
            <a:ext cx="16336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433"/>
                </a:solidFill>
              </a:rPr>
              <a:t>Payout &amp; statement</a:t>
            </a:r>
            <a:endParaRPr lang="en-US" sz="1200" dirty="0"/>
          </a:p>
        </p:txBody>
      </p:sp>
      <p:sp>
        <p:nvSpPr>
          <p:cNvPr id="32" name="Text 21"/>
          <p:cNvSpPr txBox="1"/>
          <p:nvPr/>
        </p:nvSpPr>
        <p:spPr>
          <a:xfrm>
            <a:off x="9936236" y="2816352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Monthly statement, paid and pending</a:t>
            </a:r>
            <a:endParaRPr lang="en-US" sz="950" dirty="0"/>
          </a:p>
        </p:txBody>
      </p:sp>
      <p:sp>
        <p:nvSpPr>
          <p:cNvPr id="33" name="Shape 22"/>
          <p:cNvSpPr/>
          <p:nvPr/>
        </p:nvSpPr>
        <p:spPr>
          <a:xfrm>
            <a:off x="457200" y="3611880"/>
            <a:ext cx="5524805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34" name="Shape 23"/>
          <p:cNvSpPr/>
          <p:nvPr/>
        </p:nvSpPr>
        <p:spPr>
          <a:xfrm>
            <a:off x="731520" y="3813048"/>
            <a:ext cx="475488" cy="475488"/>
          </a:xfrm>
          <a:prstGeom prst="ellipse">
            <a:avLst/>
          </a:prstGeom>
          <a:solidFill>
            <a:srgbClr val="E9F0FA"/>
          </a:solidFill>
          <a:ln/>
        </p:spPr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0392" y="3931920"/>
            <a:ext cx="237744" cy="237744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1353312" y="38862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433"/>
                </a:solidFill>
              </a:rPr>
              <a:t>What the office gets</a:t>
            </a:r>
            <a:endParaRPr lang="en-US" sz="1500" dirty="0"/>
          </a:p>
        </p:txBody>
      </p:sp>
      <p:sp>
        <p:nvSpPr>
          <p:cNvPr id="37" name="Text 25"/>
          <p:cNvSpPr txBox="1"/>
          <p:nvPr/>
        </p:nvSpPr>
        <p:spPr>
          <a:xfrm>
            <a:off x="731520" y="448056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433"/>
                </a:solidFill>
              </a:rPr>
              <a:t>Agent profiles with district, contact and agreed terms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433"/>
                </a:solidFill>
              </a:rPr>
              <a:t>Referral source on every case, alongside Facebook, website or walk-in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433"/>
                </a:solidFill>
              </a:rPr>
              <a:t>Commission rules per agent, hospital or package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433"/>
                </a:solidFill>
              </a:rPr>
              <a:t>Ranking of agents by referrals, conversions and revenue</a:t>
            </a:r>
            <a:endParaRPr lang="en-US" sz="1250" dirty="0"/>
          </a:p>
        </p:txBody>
      </p:sp>
      <p:sp>
        <p:nvSpPr>
          <p:cNvPr id="38" name="Shape 26"/>
          <p:cNvSpPr/>
          <p:nvPr/>
        </p:nvSpPr>
        <p:spPr>
          <a:xfrm>
            <a:off x="6210605" y="3611880"/>
            <a:ext cx="5524805" cy="2651760"/>
          </a:xfrm>
          <a:prstGeom prst="roundRect">
            <a:avLst>
              <a:gd name="adj" fmla="val 4828"/>
            </a:avLst>
          </a:prstGeom>
          <a:solidFill>
            <a:srgbClr val="1B2440"/>
          </a:solidFill>
          <a:ln/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39" name="Shape 27"/>
          <p:cNvSpPr/>
          <p:nvPr/>
        </p:nvSpPr>
        <p:spPr>
          <a:xfrm>
            <a:off x="6484925" y="3813048"/>
            <a:ext cx="475488" cy="475488"/>
          </a:xfrm>
          <a:prstGeom prst="ellipse">
            <a:avLst/>
          </a:prstGeom>
          <a:solidFill>
            <a:srgbClr val="B92F6E"/>
          </a:solidFill>
          <a:ln/>
        </p:spPr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03797" y="3931920"/>
            <a:ext cx="237744" cy="237744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7106717" y="38862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What the agent sees</a:t>
            </a:r>
            <a:endParaRPr lang="en-US" sz="1500" dirty="0"/>
          </a:p>
        </p:txBody>
      </p:sp>
      <p:sp>
        <p:nvSpPr>
          <p:cNvPr id="42" name="Text 29"/>
          <p:cNvSpPr txBox="1"/>
          <p:nvPr/>
        </p:nvSpPr>
        <p:spPr>
          <a:xfrm>
            <a:off x="6484925" y="448056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Only their own referrals and each one's current stage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Commission earned, pending and paid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Send a new patient lead from the phone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Download a monthly statement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3840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92F6E"/>
                </a:solidFill>
              </a:rPr>
              <a:t>PILLAR  ·  PATIENT JOURNEY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433"/>
                </a:solidFill>
              </a:rPr>
              <a:t>Every lead captured, every visa cleared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606698" cy="4663440"/>
          </a:xfrm>
          <a:prstGeom prst="roundRect">
            <a:avLst>
              <a:gd name="adj" fmla="val 3549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28800"/>
            <a:ext cx="640080" cy="640080"/>
          </a:xfrm>
          <a:prstGeom prst="ellipse">
            <a:avLst/>
          </a:prstGeom>
          <a:solidFill>
            <a:srgbClr val="E9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9888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633472"/>
            <a:ext cx="3103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433"/>
                </a:solidFill>
              </a:rPr>
              <a:t>Lead &amp; inquiry hub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999232"/>
            <a:ext cx="3103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3566AC"/>
                </a:solidFill>
              </a:rPr>
              <a:t>No inquiry goes unanswered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401568"/>
            <a:ext cx="310377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433"/>
                </a:solidFill>
              </a:rPr>
              <a:t>Website, Facebook and phone inquiries open a case automatically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433"/>
                </a:solidFill>
              </a:rPr>
              <a:t>Source recorded: agent, Facebook, website, walk-in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433"/>
                </a:solidFill>
              </a:rPr>
              <a:t>Duplicate warning by phone or passport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433"/>
                </a:solidFill>
              </a:rPr>
              <a:t>“Lost lead” status with a reason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433"/>
                </a:solidFill>
              </a:rPr>
              <a:t>Response time tracked per coordinator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5596128"/>
            <a:ext cx="3240938" cy="502920"/>
          </a:xfrm>
          <a:prstGeom prst="roundRect">
            <a:avLst>
              <a:gd name="adj" fmla="val 18182"/>
            </a:avLst>
          </a:prstGeom>
          <a:solidFill>
            <a:srgbClr val="E9F0F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7240" y="5596128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566AC"/>
                </a:solidFill>
              </a:rPr>
              <a:t>Solves: leads lost between channels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92498" y="1600200"/>
            <a:ext cx="3606698" cy="4663440"/>
          </a:xfrm>
          <a:prstGeom prst="roundRect">
            <a:avLst>
              <a:gd name="adj" fmla="val 3549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66818" y="1828800"/>
            <a:ext cx="640080" cy="640080"/>
          </a:xfrm>
          <a:prstGeom prst="ellipse">
            <a:avLst/>
          </a:prstGeom>
          <a:solidFill>
            <a:srgbClr val="FBEAF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838" y="198882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66818" y="2633472"/>
            <a:ext cx="3103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433"/>
                </a:solidFill>
              </a:rPr>
              <a:t>Medical visa desk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4566818" y="2999232"/>
            <a:ext cx="3103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B92F6E"/>
                </a:solidFill>
              </a:rPr>
              <a:t>Clear the visa before the flight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4566818" y="3401568"/>
            <a:ext cx="310377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433"/>
                </a:solidFill>
              </a:rPr>
              <a:t>Document checklist for patient and each attendant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433"/>
                </a:solidFill>
              </a:rPr>
              <a:t>Hospital appointment and invitation letters tracked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433"/>
                </a:solidFill>
              </a:rPr>
              <a:t>Embassy submission and visa status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433"/>
                </a:solidFill>
              </a:rPr>
              <a:t>Alerts on passport expiry and appointment date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433"/>
                </a:solidFill>
              </a:rPr>
              <a:t>Attendant visas handled with the patient's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475378" y="5596128"/>
            <a:ext cx="3240938" cy="502920"/>
          </a:xfrm>
          <a:prstGeom prst="roundRect">
            <a:avLst>
              <a:gd name="adj" fmla="val 18182"/>
            </a:avLst>
          </a:prstGeom>
          <a:solidFill>
            <a:srgbClr val="FBEAF2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4612538" y="5596128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92F6E"/>
                </a:solidFill>
              </a:rPr>
              <a:t>Solves: late surprises before travel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127797" y="1600200"/>
            <a:ext cx="3606698" cy="4663440"/>
          </a:xfrm>
          <a:prstGeom prst="roundRect">
            <a:avLst>
              <a:gd name="adj" fmla="val 3549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402117" y="1828800"/>
            <a:ext cx="640080" cy="640080"/>
          </a:xfrm>
          <a:prstGeom prst="ellipse">
            <a:avLst/>
          </a:prstGeom>
          <a:solidFill>
            <a:srgbClr val="E3F3F6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2137" y="1988820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402117" y="2633472"/>
            <a:ext cx="3103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433"/>
                </a:solidFill>
              </a:rPr>
              <a:t>Patient &amp; family portal</a:t>
            </a:r>
            <a:endParaRPr lang="en-US" sz="1700" dirty="0"/>
          </a:p>
        </p:txBody>
      </p:sp>
      <p:sp>
        <p:nvSpPr>
          <p:cNvPr id="24" name="Text 19"/>
          <p:cNvSpPr txBox="1"/>
          <p:nvPr/>
        </p:nvSpPr>
        <p:spPr>
          <a:xfrm>
            <a:off x="8402117" y="2999232"/>
            <a:ext cx="3103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0E7490"/>
                </a:solidFill>
              </a:rPr>
              <a:t>Status without a phone call</a:t>
            </a:r>
            <a:endParaRPr lang="en-US" sz="1150" dirty="0"/>
          </a:p>
        </p:txBody>
      </p:sp>
      <p:sp>
        <p:nvSpPr>
          <p:cNvPr id="25" name="Text 20"/>
          <p:cNvSpPr txBox="1"/>
          <p:nvPr/>
        </p:nvSpPr>
        <p:spPr>
          <a:xfrm>
            <a:off x="8402117" y="3401568"/>
            <a:ext cx="310377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433"/>
                </a:solidFill>
              </a:rPr>
              <a:t>Simple phone access for patient and family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433"/>
                </a:solidFill>
              </a:rPr>
              <a:t>Current stage, appointment and visa status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433"/>
                </a:solidFill>
              </a:rPr>
              <a:t>Upload reports and passport copies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433"/>
                </a:solidFill>
              </a:rPr>
              <a:t>Invoices and receipts, payments recorded manually by accounts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433"/>
                </a:solidFill>
              </a:rPr>
              <a:t>Works in Bangla and English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8310677" y="5596128"/>
            <a:ext cx="3240938" cy="502920"/>
          </a:xfrm>
          <a:prstGeom prst="roundRect">
            <a:avLst>
              <a:gd name="adj" fmla="val 18182"/>
            </a:avLst>
          </a:prstGeom>
          <a:solidFill>
            <a:srgbClr val="E3F3F6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447837" y="5596128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</a:rPr>
              <a:t>Solves: repeated status calls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3840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92F6E"/>
                </a:solidFill>
              </a:rPr>
              <a:t>PILLAR  ·  SERVICE DELIVERY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433"/>
                </a:solidFill>
              </a:rPr>
              <a:t>Packages, suppliers and ground care together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77295" cy="1444752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709928"/>
            <a:ext cx="3566160" cy="1225296"/>
          </a:xfrm>
          <a:prstGeom prst="roundRect">
            <a:avLst>
              <a:gd name="adj" fmla="val 7463"/>
            </a:avLst>
          </a:prstGeom>
          <a:solidFill>
            <a:srgbClr val="E3F3F6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993392"/>
            <a:ext cx="658368" cy="658368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57984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192938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433"/>
                </a:solidFill>
              </a:rPr>
              <a:t>Packages &amp; quote comparison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24414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0E7490"/>
                </a:solidFill>
              </a:rPr>
              <a:t>Faster, comparable proposals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856232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36592" y="1783080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3"/>
                </a:solidFill>
              </a:rPr>
              <a:t>Treatment package catalogue: check-ups, orthopaedics, cardiac, IVF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85623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394192" y="1783080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3"/>
                </a:solidFill>
              </a:rPr>
              <a:t>Send reports to several hospitals at once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2423160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736592" y="235000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3"/>
                </a:solidFill>
              </a:rPr>
              <a:t>Compare quotes side by side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2423160"/>
            <a:ext cx="237744" cy="23774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394192" y="235000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3"/>
                </a:solidFill>
              </a:rPr>
              <a:t>Turn the chosen quote into the patient quotation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457200" y="3200400"/>
            <a:ext cx="11277295" cy="1444752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566928" y="3310128"/>
            <a:ext cx="3566160" cy="1225296"/>
          </a:xfrm>
          <a:prstGeom prst="roundRect">
            <a:avLst>
              <a:gd name="adj" fmla="val 7463"/>
            </a:avLst>
          </a:prstGeom>
          <a:solidFill>
            <a:srgbClr val="E3F3F6"/>
          </a:solidFill>
          <a:ln/>
        </p:spPr>
      </p:sp>
      <p:sp>
        <p:nvSpPr>
          <p:cNvPr id="20" name="Shape 13"/>
          <p:cNvSpPr/>
          <p:nvPr/>
        </p:nvSpPr>
        <p:spPr>
          <a:xfrm>
            <a:off x="749808" y="3593592"/>
            <a:ext cx="658368" cy="658368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758184"/>
            <a:ext cx="329184" cy="329184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554480" y="352958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433"/>
                </a:solidFill>
              </a:rPr>
              <a:t>Supplier &amp; vendor hub</a:t>
            </a:r>
            <a:endParaRPr lang="en-US" sz="1350" dirty="0"/>
          </a:p>
        </p:txBody>
      </p:sp>
      <p:sp>
        <p:nvSpPr>
          <p:cNvPr id="23" name="Text 15"/>
          <p:cNvSpPr txBox="1"/>
          <p:nvPr/>
        </p:nvSpPr>
        <p:spPr>
          <a:xfrm>
            <a:off x="1554480" y="40416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0E7490"/>
                </a:solidFill>
              </a:rPr>
              <a:t>Every partner rate on file</a:t>
            </a:r>
            <a:endParaRPr lang="en-US" sz="105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0" y="3456432"/>
            <a:ext cx="237744" cy="237744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4736592" y="3383280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3"/>
                </a:solidFill>
              </a:rPr>
              <a:t>Hotels, serviced apartments, airlines, transport, interpreters</a:t>
            </a:r>
            <a:endParaRPr lang="en-US" sz="11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0" y="3456432"/>
            <a:ext cx="237744" cy="237744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8394192" y="3383280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3"/>
                </a:solidFill>
              </a:rPr>
              <a:t>Negotiated rates and contract validity</a:t>
            </a:r>
            <a:endParaRPr lang="en-US" sz="110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9120" y="4023360"/>
            <a:ext cx="237744" cy="237744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4736592" y="395020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3"/>
                </a:solidFill>
              </a:rPr>
              <a:t>Supplier bookings linked to cases</a:t>
            </a:r>
            <a:endParaRPr lang="en-US" sz="110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4023360"/>
            <a:ext cx="237744" cy="237744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8394192" y="395020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3"/>
                </a:solidFill>
              </a:rPr>
              <a:t>Supplier payments and balances together</a:t>
            </a:r>
            <a:endParaRPr lang="en-US" sz="1100" dirty="0"/>
          </a:p>
        </p:txBody>
      </p:sp>
      <p:sp>
        <p:nvSpPr>
          <p:cNvPr id="32" name="Shape 20"/>
          <p:cNvSpPr/>
          <p:nvPr/>
        </p:nvSpPr>
        <p:spPr>
          <a:xfrm>
            <a:off x="457200" y="4800600"/>
            <a:ext cx="11277295" cy="1444752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33" name="Shape 21"/>
          <p:cNvSpPr/>
          <p:nvPr/>
        </p:nvSpPr>
        <p:spPr>
          <a:xfrm>
            <a:off x="566928" y="4910328"/>
            <a:ext cx="3566160" cy="1225296"/>
          </a:xfrm>
          <a:prstGeom prst="roundRect">
            <a:avLst>
              <a:gd name="adj" fmla="val 7463"/>
            </a:avLst>
          </a:prstGeom>
          <a:solidFill>
            <a:srgbClr val="E3F3F6"/>
          </a:solidFill>
          <a:ln/>
        </p:spPr>
      </p:sp>
      <p:sp>
        <p:nvSpPr>
          <p:cNvPr id="34" name="Shape 22"/>
          <p:cNvSpPr/>
          <p:nvPr/>
        </p:nvSpPr>
        <p:spPr>
          <a:xfrm>
            <a:off x="749808" y="5193792"/>
            <a:ext cx="658368" cy="658368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" y="5358384"/>
            <a:ext cx="329184" cy="329184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1554480" y="512978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433"/>
                </a:solidFill>
              </a:rPr>
              <a:t>Thailand ground services</a:t>
            </a:r>
            <a:endParaRPr lang="en-US" sz="1350" dirty="0"/>
          </a:p>
        </p:txBody>
      </p:sp>
      <p:sp>
        <p:nvSpPr>
          <p:cNvPr id="37" name="Text 24"/>
          <p:cNvSpPr txBox="1"/>
          <p:nvPr/>
        </p:nvSpPr>
        <p:spPr>
          <a:xfrm>
            <a:off x="1554480" y="56418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0E7490"/>
                </a:solidFill>
              </a:rPr>
              <a:t>A smooth stay in Bangkok</a:t>
            </a:r>
            <a:endParaRPr lang="en-US" sz="1050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89120" y="5056632"/>
            <a:ext cx="237744" cy="237744"/>
          </a:xfrm>
          <a:prstGeom prst="rect">
            <a:avLst/>
          </a:prstGeom>
        </p:spPr>
      </p:pic>
      <p:sp>
        <p:nvSpPr>
          <p:cNvPr id="39" name="Text 25"/>
          <p:cNvSpPr txBox="1"/>
          <p:nvPr/>
        </p:nvSpPr>
        <p:spPr>
          <a:xfrm>
            <a:off x="4736592" y="4983480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3"/>
                </a:solidFill>
              </a:rPr>
              <a:t>Airport pickup and hospital transfer roster</a:t>
            </a:r>
            <a:endParaRPr lang="en-US" sz="1100" dirty="0"/>
          </a:p>
        </p:txBody>
      </p:sp>
      <p:pic>
        <p:nvPicPr>
          <p:cNvPr id="4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5056632"/>
            <a:ext cx="237744" cy="237744"/>
          </a:xfrm>
          <a:prstGeom prst="rect">
            <a:avLst/>
          </a:prstGeom>
        </p:spPr>
      </p:pic>
      <p:sp>
        <p:nvSpPr>
          <p:cNvPr id="41" name="Text 26"/>
          <p:cNvSpPr txBox="1"/>
          <p:nvPr/>
        </p:nvSpPr>
        <p:spPr>
          <a:xfrm>
            <a:off x="8394192" y="4983480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3"/>
                </a:solidFill>
              </a:rPr>
              <a:t>Bengali–Thai interpreter scheduling</a:t>
            </a:r>
            <a:endParaRPr lang="en-US" sz="1100" dirty="0"/>
          </a:p>
        </p:txBody>
      </p:sp>
      <p:pic>
        <p:nvPicPr>
          <p:cNvPr id="4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89120" y="5623560"/>
            <a:ext cx="237744" cy="237744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4736592" y="555040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3"/>
                </a:solidFill>
              </a:rPr>
              <a:t>Day-by-day schedule for each patient</a:t>
            </a:r>
            <a:endParaRPr lang="en-US" sz="1100" dirty="0"/>
          </a:p>
        </p:txBody>
      </p:sp>
      <p:pic>
        <p:nvPicPr>
          <p:cNvPr id="4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46720" y="5623560"/>
            <a:ext cx="237744" cy="237744"/>
          </a:xfrm>
          <a:prstGeom prst="rect">
            <a:avLst/>
          </a:prstGeom>
        </p:spPr>
      </p:pic>
      <p:sp>
        <p:nvSpPr>
          <p:cNvPr id="45" name="Text 28"/>
          <p:cNvSpPr txBox="1"/>
          <p:nvPr/>
        </p:nvSpPr>
        <p:spPr>
          <a:xfrm>
            <a:off x="8394192" y="555040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3"/>
                </a:solidFill>
              </a:rPr>
              <a:t>Emergency contact and on-call staff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3840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92F6E"/>
                </a:solidFill>
              </a:rPr>
              <a:t>PILLAR  ·  CARE &amp; GROWTH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433"/>
                </a:solidFill>
              </a:rPr>
              <a:t>Stay close after treatment, see what 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606698" cy="4663440"/>
          </a:xfrm>
          <a:prstGeom prst="roundRect">
            <a:avLst>
              <a:gd name="adj" fmla="val 3549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737360"/>
            <a:ext cx="3332378" cy="1325880"/>
          </a:xfrm>
          <a:prstGeom prst="roundRect">
            <a:avLst>
              <a:gd name="adj" fmla="val 6897"/>
            </a:avLst>
          </a:prstGeom>
          <a:solidFill>
            <a:srgbClr val="FDF4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2148840"/>
            <a:ext cx="292608" cy="292608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2" y="2148840"/>
            <a:ext cx="292608" cy="292608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784" y="2148840"/>
            <a:ext cx="292608" cy="292608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256" y="2148840"/>
            <a:ext cx="292608" cy="292608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8728" y="2148840"/>
            <a:ext cx="292608" cy="292608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192024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7791F"/>
                </a:solidFill>
              </a:rPr>
              <a:t>“Smooth from Dhaka to discharge”</a:t>
            </a:r>
            <a:endParaRPr lang="en-US" sz="950" dirty="0"/>
          </a:p>
        </p:txBody>
      </p:sp>
      <p:sp>
        <p:nvSpPr>
          <p:cNvPr id="12" name="Shape 5"/>
          <p:cNvSpPr/>
          <p:nvPr/>
        </p:nvSpPr>
        <p:spPr>
          <a:xfrm>
            <a:off x="822960" y="2148840"/>
            <a:ext cx="685800" cy="685800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410" y="2320290"/>
            <a:ext cx="342900" cy="34290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731520" y="3246120"/>
            <a:ext cx="3103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433"/>
                </a:solidFill>
              </a:rPr>
              <a:t>Aftercare &amp; feedback</a:t>
            </a:r>
            <a:endParaRPr lang="en-US" sz="1700" dirty="0"/>
          </a:p>
        </p:txBody>
      </p:sp>
      <p:sp>
        <p:nvSpPr>
          <p:cNvPr id="15" name="Text 7"/>
          <p:cNvSpPr txBox="1"/>
          <p:nvPr/>
        </p:nvSpPr>
        <p:spPr>
          <a:xfrm>
            <a:off x="731520" y="3749040"/>
            <a:ext cx="310377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433"/>
                </a:solidFill>
              </a:rPr>
              <a:t>Check-ins at 1 week, 1 month and 3 months after return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433"/>
                </a:solidFill>
              </a:rPr>
              <a:t>Follow-up video consults with the Thai doctor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433"/>
                </a:solidFill>
              </a:rPr>
              <a:t>Medication and next-visit reminders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433"/>
                </a:solidFill>
              </a:rPr>
              <a:t>Ratings and reviews per hospital and staff member</a:t>
            </a:r>
            <a:endParaRPr lang="en-US" sz="1250" dirty="0"/>
          </a:p>
        </p:txBody>
      </p:sp>
      <p:sp>
        <p:nvSpPr>
          <p:cNvPr id="16" name="Shape 8"/>
          <p:cNvSpPr/>
          <p:nvPr/>
        </p:nvSpPr>
        <p:spPr>
          <a:xfrm>
            <a:off x="4292498" y="1600200"/>
            <a:ext cx="3606698" cy="4663440"/>
          </a:xfrm>
          <a:prstGeom prst="roundRect">
            <a:avLst>
              <a:gd name="adj" fmla="val 3549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17" name="Shape 9"/>
          <p:cNvSpPr/>
          <p:nvPr/>
        </p:nvSpPr>
        <p:spPr>
          <a:xfrm>
            <a:off x="4429658" y="1737360"/>
            <a:ext cx="3332378" cy="1325880"/>
          </a:xfrm>
          <a:prstGeom prst="roundRect">
            <a:avLst>
              <a:gd name="adj" fmla="val 6897"/>
            </a:avLst>
          </a:prstGeom>
          <a:solidFill>
            <a:srgbClr val="FDF4E3"/>
          </a:solidFill>
          <a:ln/>
        </p:spPr>
      </p:sp>
      <p:sp>
        <p:nvSpPr>
          <p:cNvPr id="18" name="Shape 10"/>
          <p:cNvSpPr/>
          <p:nvPr/>
        </p:nvSpPr>
        <p:spPr>
          <a:xfrm>
            <a:off x="5618378" y="2011680"/>
            <a:ext cx="20574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5709818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433"/>
                </a:solidFill>
              </a:rPr>
              <a:t>Your appointment is on 2 Nov</a:t>
            </a:r>
            <a:endParaRPr lang="en-US" sz="900" dirty="0"/>
          </a:p>
        </p:txBody>
      </p:sp>
      <p:sp>
        <p:nvSpPr>
          <p:cNvPr id="20" name="Shape 12"/>
          <p:cNvSpPr/>
          <p:nvPr/>
        </p:nvSpPr>
        <p:spPr>
          <a:xfrm>
            <a:off x="5984138" y="246888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/>
        </p:spPr>
      </p:sp>
      <p:sp>
        <p:nvSpPr>
          <p:cNvPr id="21" name="Text 13"/>
          <p:cNvSpPr txBox="1"/>
          <p:nvPr/>
        </p:nvSpPr>
        <p:spPr>
          <a:xfrm>
            <a:off x="6075578" y="2468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Thanks, see you there!</a:t>
            </a:r>
            <a:endParaRPr lang="en-US" sz="900" dirty="0"/>
          </a:p>
        </p:txBody>
      </p:sp>
      <p:sp>
        <p:nvSpPr>
          <p:cNvPr id="22" name="Shape 14"/>
          <p:cNvSpPr/>
          <p:nvPr/>
        </p:nvSpPr>
        <p:spPr>
          <a:xfrm>
            <a:off x="4658258" y="2148840"/>
            <a:ext cx="685800" cy="685800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708" y="2320290"/>
            <a:ext cx="342900" cy="34290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4566818" y="3246120"/>
            <a:ext cx="3103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433"/>
                </a:solidFill>
              </a:rPr>
              <a:t>Messaging &amp; reminders</a:t>
            </a:r>
            <a:endParaRPr lang="en-US" sz="1700" dirty="0"/>
          </a:p>
        </p:txBody>
      </p:sp>
      <p:sp>
        <p:nvSpPr>
          <p:cNvPr id="25" name="Text 16"/>
          <p:cNvSpPr txBox="1"/>
          <p:nvPr/>
        </p:nvSpPr>
        <p:spPr>
          <a:xfrm>
            <a:off x="4566818" y="3749040"/>
            <a:ext cx="310377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433"/>
                </a:solidFill>
              </a:rPr>
              <a:t>Ready templates in Bangla and English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433"/>
                </a:solidFill>
              </a:rPr>
              <a:t>WhatsApp and email sent from the case and saved to it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433"/>
                </a:solidFill>
              </a:rPr>
              <a:t>Automatic reminders: documents, payment, flight, appointment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433"/>
                </a:solidFill>
              </a:rPr>
              <a:t>Broadcasts for health camps and offers</a:t>
            </a:r>
            <a:endParaRPr lang="en-US" sz="1250" dirty="0"/>
          </a:p>
        </p:txBody>
      </p:sp>
      <p:sp>
        <p:nvSpPr>
          <p:cNvPr id="26" name="Shape 17"/>
          <p:cNvSpPr/>
          <p:nvPr/>
        </p:nvSpPr>
        <p:spPr>
          <a:xfrm>
            <a:off x="8127797" y="1600200"/>
            <a:ext cx="3606698" cy="4663440"/>
          </a:xfrm>
          <a:prstGeom prst="roundRect">
            <a:avLst>
              <a:gd name="adj" fmla="val 3549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27" name="Shape 18"/>
          <p:cNvSpPr/>
          <p:nvPr/>
        </p:nvSpPr>
        <p:spPr>
          <a:xfrm>
            <a:off x="8264957" y="1737360"/>
            <a:ext cx="3332378" cy="1325880"/>
          </a:xfrm>
          <a:prstGeom prst="roundRect">
            <a:avLst>
              <a:gd name="adj" fmla="val 6897"/>
            </a:avLst>
          </a:prstGeom>
          <a:solidFill>
            <a:srgbClr val="FDF4E3"/>
          </a:solidFill>
          <a:ln/>
        </p:spPr>
      </p:sp>
      <p:sp>
        <p:nvSpPr>
          <p:cNvPr id="28" name="Shape 19"/>
          <p:cNvSpPr/>
          <p:nvPr/>
        </p:nvSpPr>
        <p:spPr>
          <a:xfrm>
            <a:off x="9727997" y="2560320"/>
            <a:ext cx="256032" cy="320040"/>
          </a:xfrm>
          <a:prstGeom prst="rect">
            <a:avLst/>
          </a:prstGeom>
          <a:solidFill>
            <a:srgbClr val="E8C98F"/>
          </a:solidFill>
          <a:ln/>
        </p:spPr>
      </p:sp>
      <p:sp>
        <p:nvSpPr>
          <p:cNvPr id="29" name="Shape 20"/>
          <p:cNvSpPr/>
          <p:nvPr/>
        </p:nvSpPr>
        <p:spPr>
          <a:xfrm>
            <a:off x="10112045" y="2377440"/>
            <a:ext cx="256032" cy="502920"/>
          </a:xfrm>
          <a:prstGeom prst="rect">
            <a:avLst/>
          </a:prstGeom>
          <a:solidFill>
            <a:srgbClr val="E8C98F"/>
          </a:solidFill>
          <a:ln/>
        </p:spPr>
      </p:sp>
      <p:sp>
        <p:nvSpPr>
          <p:cNvPr id="30" name="Shape 21"/>
          <p:cNvSpPr/>
          <p:nvPr/>
        </p:nvSpPr>
        <p:spPr>
          <a:xfrm>
            <a:off x="10496093" y="2468880"/>
            <a:ext cx="256032" cy="411480"/>
          </a:xfrm>
          <a:prstGeom prst="rect">
            <a:avLst/>
          </a:prstGeom>
          <a:solidFill>
            <a:srgbClr val="E8C98F"/>
          </a:solidFill>
          <a:ln/>
        </p:spPr>
      </p:sp>
      <p:sp>
        <p:nvSpPr>
          <p:cNvPr id="31" name="Shape 22"/>
          <p:cNvSpPr/>
          <p:nvPr/>
        </p:nvSpPr>
        <p:spPr>
          <a:xfrm>
            <a:off x="10880141" y="2194560"/>
            <a:ext cx="256032" cy="685800"/>
          </a:xfrm>
          <a:prstGeom prst="rect">
            <a:avLst/>
          </a:prstGeom>
          <a:solidFill>
            <a:srgbClr val="E8C98F"/>
          </a:solidFill>
          <a:ln/>
        </p:spPr>
      </p:sp>
      <p:sp>
        <p:nvSpPr>
          <p:cNvPr id="32" name="Shape 23"/>
          <p:cNvSpPr/>
          <p:nvPr/>
        </p:nvSpPr>
        <p:spPr>
          <a:xfrm>
            <a:off x="11264189" y="2011680"/>
            <a:ext cx="256032" cy="86868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33" name="Shape 24"/>
          <p:cNvSpPr/>
          <p:nvPr/>
        </p:nvSpPr>
        <p:spPr>
          <a:xfrm>
            <a:off x="8493557" y="2148840"/>
            <a:ext cx="685800" cy="685800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5007" y="2320290"/>
            <a:ext cx="342900" cy="342900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8402117" y="3246120"/>
            <a:ext cx="3103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433"/>
                </a:solidFill>
              </a:rPr>
              <a:t>Reports &amp; analytics</a:t>
            </a:r>
            <a:endParaRPr lang="en-US" sz="1700" dirty="0"/>
          </a:p>
        </p:txBody>
      </p:sp>
      <p:sp>
        <p:nvSpPr>
          <p:cNvPr id="36" name="Text 26"/>
          <p:cNvSpPr txBox="1"/>
          <p:nvPr/>
        </p:nvSpPr>
        <p:spPr>
          <a:xfrm>
            <a:off x="8402117" y="3749040"/>
            <a:ext cx="310377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433"/>
                </a:solidFill>
              </a:rPr>
              <a:t>Monthly inquiries, conversion and lost-lead reasons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433"/>
                </a:solidFill>
              </a:rPr>
              <a:t>Revenue and profit by hospital, agent and package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433"/>
                </a:solidFill>
              </a:rPr>
              <a:t>Coordinator workload and response time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433"/>
                </a:solidFill>
              </a:rPr>
              <a:t>Export any list or report to Excel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3840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92F6E"/>
                </a:solidFill>
              </a:rPr>
              <a:t>USER FLOW  ·  AFTER THE UPGRADE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433"/>
                </a:solidFill>
              </a:rPr>
              <a:t>The journey after the upgrade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344473" cy="777240"/>
          </a:xfrm>
          <a:prstGeom prst="homePlate">
            <a:avLst/>
          </a:prstGeom>
          <a:solidFill>
            <a:srgbClr val="66708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2064" y="1691640"/>
            <a:ext cx="97871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578608"/>
            <a:ext cx="11615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7085"/>
                </a:solidFill>
              </a:rPr>
              <a:t>New Inquiry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21208" y="3063240"/>
            <a:ext cx="1125017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1208" y="3063240"/>
            <a:ext cx="11250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433"/>
                </a:solidFill>
              </a:rPr>
              <a:t>Lead hub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21208" y="3520440"/>
            <a:ext cx="1125017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1208" y="3520440"/>
            <a:ext cx="11250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433"/>
                </a:solidFill>
              </a:rPr>
              <a:t>Agent network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710233" y="1691640"/>
            <a:ext cx="1344473" cy="777240"/>
          </a:xfrm>
          <a:prstGeom prst="chevron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29689" y="1691640"/>
            <a:ext cx="97871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755953" y="2578608"/>
            <a:ext cx="11615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Reports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774241" y="3063240"/>
            <a:ext cx="1125017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774241" y="3063240"/>
            <a:ext cx="11250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433"/>
                </a:solidFill>
              </a:rPr>
              <a:t>Patient portal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963266" y="1691640"/>
            <a:ext cx="1344473" cy="777240"/>
          </a:xfrm>
          <a:prstGeom prst="chevron">
            <a:avLst/>
          </a:prstGeom>
          <a:solidFill>
            <a:srgbClr val="3566A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182722" y="1691640"/>
            <a:ext cx="97871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008986" y="2578608"/>
            <a:ext cx="11615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566AC"/>
                </a:solidFill>
              </a:rPr>
              <a:t>Hospital Review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27274" y="3063240"/>
            <a:ext cx="1125017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027274" y="3063240"/>
            <a:ext cx="11250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433"/>
                </a:solidFill>
              </a:rPr>
              <a:t>Hospitals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027274" y="3520440"/>
            <a:ext cx="1125017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027274" y="3520440"/>
            <a:ext cx="11250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433"/>
                </a:solidFill>
              </a:rPr>
              <a:t>Doctors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027274" y="3977640"/>
            <a:ext cx="1125017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027274" y="3977640"/>
            <a:ext cx="11250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433"/>
                </a:solidFill>
              </a:rPr>
              <a:t>Quote compare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16298" y="1691640"/>
            <a:ext cx="1344473" cy="777240"/>
          </a:xfrm>
          <a:prstGeom prst="chevron">
            <a:avLst/>
          </a:prstGeom>
          <a:solidFill>
            <a:srgbClr val="0E74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35754" y="1691640"/>
            <a:ext cx="97871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262018" y="2578608"/>
            <a:ext cx="11615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490"/>
                </a:solidFill>
              </a:rPr>
              <a:t>Appointment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280306" y="3063240"/>
            <a:ext cx="1125017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280306" y="3063240"/>
            <a:ext cx="11250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433"/>
                </a:solidFill>
              </a:rPr>
              <a:t>Packages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280306" y="3520440"/>
            <a:ext cx="1125017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280306" y="3520440"/>
            <a:ext cx="11250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433"/>
                </a:solidFill>
              </a:rPr>
              <a:t>Messaging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69331" y="1691640"/>
            <a:ext cx="1344473" cy="777240"/>
          </a:xfrm>
          <a:prstGeom prst="chevron">
            <a:avLst/>
          </a:prstGeom>
          <a:solidFill>
            <a:srgbClr val="E3A2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688787" y="1691640"/>
            <a:ext cx="97871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5515051" y="2578608"/>
            <a:ext cx="11615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3A23B"/>
                </a:solidFill>
              </a:rPr>
              <a:t>Visa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52211" y="1353312"/>
            <a:ext cx="978713" cy="256032"/>
          </a:xfrm>
          <a:prstGeom prst="roundRect">
            <a:avLst>
              <a:gd name="adj" fmla="val 50000"/>
            </a:avLst>
          </a:prstGeom>
          <a:solidFill>
            <a:srgbClr val="FDF4E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652211" y="1353312"/>
            <a:ext cx="9787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7791F"/>
                </a:solidFill>
              </a:rPr>
              <a:t>NEW STAGE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33339" y="3063240"/>
            <a:ext cx="1125017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533339" y="3063240"/>
            <a:ext cx="11250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433"/>
                </a:solidFill>
              </a:rPr>
              <a:t>Visa desk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722364" y="1691640"/>
            <a:ext cx="1344473" cy="777240"/>
          </a:xfrm>
          <a:prstGeom prst="chevron">
            <a:avLst/>
          </a:prstGeom>
          <a:solidFill>
            <a:srgbClr val="B779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941820" y="1691640"/>
            <a:ext cx="97871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6768084" y="2578608"/>
            <a:ext cx="11615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7791F"/>
                </a:solidFill>
              </a:rPr>
              <a:t>Travel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786372" y="3063240"/>
            <a:ext cx="1125017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786372" y="3063240"/>
            <a:ext cx="11250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433"/>
                </a:solidFill>
              </a:rPr>
              <a:t>Supplier hub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975397" y="1691640"/>
            <a:ext cx="1344473" cy="777240"/>
          </a:xfrm>
          <a:prstGeom prst="chevron">
            <a:avLst/>
          </a:prstGeom>
          <a:solidFill>
            <a:srgbClr val="B92F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194853" y="1691640"/>
            <a:ext cx="97871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07</a:t>
            </a:r>
            <a:endParaRPr lang="en-US" sz="1800" dirty="0"/>
          </a:p>
        </p:txBody>
      </p:sp>
      <p:sp>
        <p:nvSpPr>
          <p:cNvPr id="46" name="Text 44"/>
          <p:cNvSpPr txBox="1"/>
          <p:nvPr/>
        </p:nvSpPr>
        <p:spPr>
          <a:xfrm>
            <a:off x="8021117" y="2578608"/>
            <a:ext cx="11615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2F6E"/>
                </a:solidFill>
              </a:rPr>
              <a:t>Treatment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039405" y="3063240"/>
            <a:ext cx="1125017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039405" y="3063240"/>
            <a:ext cx="11250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433"/>
                </a:solidFill>
              </a:rPr>
              <a:t>Ground services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228430" y="1691640"/>
            <a:ext cx="1344473" cy="777240"/>
          </a:xfrm>
          <a:prstGeom prst="chevron">
            <a:avLst/>
          </a:prstGeom>
          <a:solidFill>
            <a:srgbClr val="C241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447886" y="1691640"/>
            <a:ext cx="97871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08</a:t>
            </a:r>
            <a:endParaRPr lang="en-US" sz="1800" dirty="0"/>
          </a:p>
        </p:txBody>
      </p:sp>
      <p:sp>
        <p:nvSpPr>
          <p:cNvPr id="51" name="Text 49"/>
          <p:cNvSpPr txBox="1"/>
          <p:nvPr/>
        </p:nvSpPr>
        <p:spPr>
          <a:xfrm>
            <a:off x="9274150" y="2578608"/>
            <a:ext cx="11615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</a:rPr>
              <a:t>Follow-up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292438" y="3063240"/>
            <a:ext cx="1125017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292438" y="3063240"/>
            <a:ext cx="11250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433"/>
                </a:solidFill>
              </a:rPr>
              <a:t>Aftercare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10481462" y="1691640"/>
            <a:ext cx="1344473" cy="777240"/>
          </a:xfrm>
          <a:prstGeom prst="chevron">
            <a:avLst/>
          </a:prstGeom>
          <a:solidFill>
            <a:srgbClr val="1580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0700918" y="1691640"/>
            <a:ext cx="97871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09</a:t>
            </a:r>
            <a:endParaRPr lang="en-US" sz="1800" dirty="0"/>
          </a:p>
        </p:txBody>
      </p:sp>
      <p:sp>
        <p:nvSpPr>
          <p:cNvPr id="56" name="Text 54"/>
          <p:cNvSpPr txBox="1"/>
          <p:nvPr/>
        </p:nvSpPr>
        <p:spPr>
          <a:xfrm>
            <a:off x="10527182" y="2578608"/>
            <a:ext cx="11615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Completed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0545470" y="3063240"/>
            <a:ext cx="1125017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0545470" y="3063240"/>
            <a:ext cx="11250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433"/>
                </a:solidFill>
              </a:rPr>
              <a:t>Analytics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10545470" y="3520440"/>
            <a:ext cx="1125017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0545470" y="3520440"/>
            <a:ext cx="11250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433"/>
                </a:solidFill>
              </a:rPr>
              <a:t>Commission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57200" y="4572000"/>
            <a:ext cx="5524805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31520" y="4818888"/>
            <a:ext cx="640080" cy="640080"/>
          </a:xfrm>
          <a:prstGeom prst="ellipse">
            <a:avLst/>
          </a:prstGeom>
          <a:solidFill>
            <a:srgbClr val="FDEDE5"/>
          </a:solidFill>
          <a:ln/>
        </p:spPr>
      </p:sp>
      <p:pic>
        <p:nvPicPr>
          <p:cNvPr id="6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4978908"/>
            <a:ext cx="320040" cy="320040"/>
          </a:xfrm>
          <a:prstGeom prst="rect">
            <a:avLst/>
          </a:prstGeom>
        </p:spPr>
      </p:pic>
      <p:sp>
        <p:nvSpPr>
          <p:cNvPr id="64" name="Text 61"/>
          <p:cNvSpPr txBox="1"/>
          <p:nvPr/>
        </p:nvSpPr>
        <p:spPr>
          <a:xfrm>
            <a:off x="1600200" y="477316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433"/>
                </a:solidFill>
              </a:rPr>
              <a:t>Lost lead, from any stage</a:t>
            </a:r>
            <a:endParaRPr lang="en-US" sz="1500" dirty="0"/>
          </a:p>
        </p:txBody>
      </p:sp>
      <p:sp>
        <p:nvSpPr>
          <p:cNvPr id="65" name="Text 62"/>
          <p:cNvSpPr txBox="1"/>
          <p:nvPr/>
        </p:nvSpPr>
        <p:spPr>
          <a:xfrm>
            <a:off x="1600200" y="513892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Close a case as lost with a reason: price, another provider, medical advice, visa refused. Reasons feed the reports.</a:t>
            </a:r>
            <a:endParaRPr lang="en-US" sz="1200" dirty="0"/>
          </a:p>
        </p:txBody>
      </p:sp>
      <p:sp>
        <p:nvSpPr>
          <p:cNvPr id="66" name="Shape 63"/>
          <p:cNvSpPr/>
          <p:nvPr/>
        </p:nvSpPr>
        <p:spPr>
          <a:xfrm>
            <a:off x="6210605" y="4572000"/>
            <a:ext cx="5524805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6484925" y="4818888"/>
            <a:ext cx="640080" cy="640080"/>
          </a:xfrm>
          <a:prstGeom prst="ellipse">
            <a:avLst/>
          </a:prstGeom>
          <a:solidFill>
            <a:srgbClr val="E9F0FA"/>
          </a:solidFill>
          <a:ln/>
        </p:spPr>
      </p:sp>
      <p:pic>
        <p:nvPicPr>
          <p:cNvPr id="6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945" y="4978908"/>
            <a:ext cx="320040" cy="320040"/>
          </a:xfrm>
          <a:prstGeom prst="rect">
            <a:avLst/>
          </a:prstGeom>
        </p:spPr>
      </p:pic>
      <p:sp>
        <p:nvSpPr>
          <p:cNvPr id="69" name="Text 65"/>
          <p:cNvSpPr txBox="1"/>
          <p:nvPr/>
        </p:nvSpPr>
        <p:spPr>
          <a:xfrm>
            <a:off x="7353605" y="477316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433"/>
                </a:solidFill>
              </a:rPr>
              <a:t>Source tagged at intake</a:t>
            </a:r>
            <a:endParaRPr lang="en-US" sz="1500" dirty="0"/>
          </a:p>
        </p:txBody>
      </p:sp>
      <p:sp>
        <p:nvSpPr>
          <p:cNvPr id="70" name="Text 66"/>
          <p:cNvSpPr txBox="1"/>
          <p:nvPr/>
        </p:nvSpPr>
        <p:spPr>
          <a:xfrm>
            <a:off x="7353605" y="513892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Every case records where it came from: agent, Facebook, website, walk-in or referral, so commission and marketing ROI are automatic.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3840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92F6E"/>
                </a:solidFill>
              </a:rPr>
              <a:t>IMPROVE WHAT EXISTS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433"/>
                </a:solidFill>
              </a:rPr>
              <a:t>Quick wins inside today's modules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606698" cy="221284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74520"/>
            <a:ext cx="731520" cy="731520"/>
          </a:xfrm>
          <a:prstGeom prst="ellipse">
            <a:avLst/>
          </a:prstGeom>
          <a:solidFill>
            <a:srgbClr val="B92F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149498" y="185623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0D5DD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80720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433"/>
                </a:solidFill>
              </a:rPr>
              <a:t>Visa stage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200400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A dedicated stage between appointment and travel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92498" y="1600200"/>
            <a:ext cx="3606698" cy="221284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66818" y="1874520"/>
            <a:ext cx="731520" cy="731520"/>
          </a:xfrm>
          <a:prstGeom prst="ellipse">
            <a:avLst/>
          </a:prstGeom>
          <a:solidFill>
            <a:srgbClr val="3566A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698" y="20574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84797" y="185623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0D5DD"/>
                </a:solidFill>
              </a:rPr>
              <a:t>02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4566818" y="280720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433"/>
                </a:solidFill>
              </a:rPr>
              <a:t>Lost-lead status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4566818" y="3200400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Close a case as lost, with a reason to learn from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27797" y="1600200"/>
            <a:ext cx="3606698" cy="221284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02117" y="1874520"/>
            <a:ext cx="731520" cy="731520"/>
          </a:xfrm>
          <a:prstGeom prst="ellipse">
            <a:avLst/>
          </a:prstGeom>
          <a:solidFill>
            <a:srgbClr val="B92F6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4997" y="20574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820095" y="185623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0D5DD"/>
                </a:solidFill>
              </a:rPr>
              <a:t>03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8402117" y="280720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433"/>
                </a:solidFill>
              </a:rPr>
              <a:t>Patient source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8402117" y="3200400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Agent, Facebook, website or walk-in on every case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457200" y="4050792"/>
            <a:ext cx="3606698" cy="221284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31520" y="4325112"/>
            <a:ext cx="731520" cy="731520"/>
          </a:xfrm>
          <a:prstGeom prst="ellipse">
            <a:avLst/>
          </a:prstGeom>
          <a:solidFill>
            <a:srgbClr val="3566AC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07992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3149498" y="4306824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0D5DD"/>
                </a:solidFill>
              </a:rPr>
              <a:t>04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731520" y="525780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433"/>
                </a:solidFill>
              </a:rPr>
              <a:t>Duplicate warning</a:t>
            </a:r>
            <a:endParaRPr lang="en-US" sz="1700" dirty="0"/>
          </a:p>
        </p:txBody>
      </p:sp>
      <p:sp>
        <p:nvSpPr>
          <p:cNvPr id="27" name="Text 21"/>
          <p:cNvSpPr txBox="1"/>
          <p:nvPr/>
        </p:nvSpPr>
        <p:spPr>
          <a:xfrm>
            <a:off x="731520" y="5650992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Flag returning patients by phone or passport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4292498" y="4050792"/>
            <a:ext cx="3606698" cy="221284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66818" y="4325112"/>
            <a:ext cx="731520" cy="731520"/>
          </a:xfrm>
          <a:prstGeom prst="ellipse">
            <a:avLst/>
          </a:prstGeom>
          <a:solidFill>
            <a:srgbClr val="B92F6E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698" y="4507992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984797" y="4306824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0D5DD"/>
                </a:solidFill>
              </a:rPr>
              <a:t>05</a:t>
            </a:r>
            <a:endParaRPr lang="en-US" sz="2000" dirty="0"/>
          </a:p>
        </p:txBody>
      </p:sp>
      <p:sp>
        <p:nvSpPr>
          <p:cNvPr id="32" name="Text 25"/>
          <p:cNvSpPr txBox="1"/>
          <p:nvPr/>
        </p:nvSpPr>
        <p:spPr>
          <a:xfrm>
            <a:off x="4566818" y="525780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433"/>
                </a:solidFill>
              </a:rPr>
              <a:t>Lock supplier costs</a:t>
            </a:r>
            <a:endParaRPr lang="en-US" sz="1700" dirty="0"/>
          </a:p>
        </p:txBody>
      </p:sp>
      <p:sp>
        <p:nvSpPr>
          <p:cNvPr id="33" name="Text 26"/>
          <p:cNvSpPr txBox="1"/>
          <p:nvPr/>
        </p:nvSpPr>
        <p:spPr>
          <a:xfrm>
            <a:off x="4566818" y="5650992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Costs lock once paid, so past profit can't change silently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8127797" y="4050792"/>
            <a:ext cx="3606698" cy="221284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402117" y="4325112"/>
            <a:ext cx="731520" cy="731520"/>
          </a:xfrm>
          <a:prstGeom prst="ellipse">
            <a:avLst/>
          </a:prstGeom>
          <a:solidFill>
            <a:srgbClr val="3566AC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4997" y="4507992"/>
            <a:ext cx="365760" cy="36576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820095" y="4306824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0D5DD"/>
                </a:solidFill>
              </a:rPr>
              <a:t>06</a:t>
            </a:r>
            <a:endParaRPr lang="en-US" sz="2000" dirty="0"/>
          </a:p>
        </p:txBody>
      </p:sp>
      <p:sp>
        <p:nvSpPr>
          <p:cNvPr id="38" name="Text 30"/>
          <p:cNvSpPr txBox="1"/>
          <p:nvPr/>
        </p:nvSpPr>
        <p:spPr>
          <a:xfrm>
            <a:off x="8402117" y="525780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433"/>
                </a:solidFill>
              </a:rPr>
              <a:t>Export to Excel</a:t>
            </a:r>
            <a:endParaRPr lang="en-US" sz="1700" dirty="0"/>
          </a:p>
        </p:txBody>
      </p:sp>
      <p:sp>
        <p:nvSpPr>
          <p:cNvPr id="39" name="Text 31"/>
          <p:cNvSpPr txBox="1"/>
          <p:nvPr/>
        </p:nvSpPr>
        <p:spPr>
          <a:xfrm>
            <a:off x="8402117" y="5650992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Any list or report, in one click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3840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92F6E"/>
                </a:solidFill>
              </a:rPr>
              <a:t>TARGET PICTURE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433"/>
                </a:solidFill>
              </a:rPr>
              <a:t>Everything connects around one shared case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67085"/>
                </a:solidFill>
              </a:rPr>
              <a:t>OUTSIDE PARTIES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262872" y="16002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67085"/>
                </a:solidFill>
              </a:rPr>
              <a:t>INTERNAL TEAMS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468880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130552"/>
            <a:ext cx="420624" cy="420624"/>
          </a:xfrm>
          <a:prstGeom prst="ellipse">
            <a:avLst/>
          </a:prstGeom>
          <a:solidFill>
            <a:srgbClr val="FBEAF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2235708"/>
            <a:ext cx="210312" cy="2103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78992" y="201168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433"/>
                </a:solidFill>
              </a:rPr>
              <a:t>Patients &amp; families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926080" y="2340864"/>
            <a:ext cx="502920" cy="0"/>
          </a:xfrm>
          <a:prstGeom prst="line">
            <a:avLst/>
          </a:prstGeom>
          <a:noFill/>
          <a:ln w="15875">
            <a:solidFill>
              <a:srgbClr val="F29BC3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57200" y="2852928"/>
            <a:ext cx="2468880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6928" y="2971800"/>
            <a:ext cx="420624" cy="420624"/>
          </a:xfrm>
          <a:prstGeom prst="ellipse">
            <a:avLst/>
          </a:prstGeom>
          <a:solidFill>
            <a:srgbClr val="FBEAF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3076956"/>
            <a:ext cx="210312" cy="21031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78992" y="285292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433"/>
                </a:solidFill>
              </a:rPr>
              <a:t>Agents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926080" y="3182112"/>
            <a:ext cx="502920" cy="0"/>
          </a:xfrm>
          <a:prstGeom prst="line">
            <a:avLst/>
          </a:prstGeom>
          <a:noFill/>
          <a:ln w="15875">
            <a:solidFill>
              <a:srgbClr val="F29BC3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457200" y="3694176"/>
            <a:ext cx="2468880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66928" y="3813048"/>
            <a:ext cx="420624" cy="420624"/>
          </a:xfrm>
          <a:prstGeom prst="ellipse">
            <a:avLst/>
          </a:prstGeom>
          <a:solidFill>
            <a:srgbClr val="FBEAF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3918204"/>
            <a:ext cx="210312" cy="21031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78992" y="369417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433"/>
                </a:solidFill>
              </a:rPr>
              <a:t>Hospitals &amp; doctors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2926080" y="4023360"/>
            <a:ext cx="502920" cy="0"/>
          </a:xfrm>
          <a:prstGeom prst="line">
            <a:avLst/>
          </a:prstGeom>
          <a:noFill/>
          <a:ln w="15875">
            <a:solidFill>
              <a:srgbClr val="F29BC3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457200" y="4535424"/>
            <a:ext cx="2468880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66928" y="4654296"/>
            <a:ext cx="420624" cy="420624"/>
          </a:xfrm>
          <a:prstGeom prst="ellipse">
            <a:avLst/>
          </a:prstGeom>
          <a:solidFill>
            <a:srgbClr val="FBEAF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4759452"/>
            <a:ext cx="210312" cy="21031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78992" y="4535424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433"/>
                </a:solidFill>
              </a:rPr>
              <a:t>Embassy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2926080" y="4864608"/>
            <a:ext cx="502920" cy="0"/>
          </a:xfrm>
          <a:prstGeom prst="line">
            <a:avLst/>
          </a:prstGeom>
          <a:noFill/>
          <a:ln w="15875">
            <a:solidFill>
              <a:srgbClr val="F29BC3"/>
            </a:solidFill>
            <a:prstDash val="solid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457200" y="5376672"/>
            <a:ext cx="2468880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66928" y="5495544"/>
            <a:ext cx="420624" cy="420624"/>
          </a:xfrm>
          <a:prstGeom prst="ellipse">
            <a:avLst/>
          </a:prstGeom>
          <a:solidFill>
            <a:srgbClr val="FBEAF2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" y="5600700"/>
            <a:ext cx="210312" cy="21031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078992" y="5376672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433"/>
                </a:solidFill>
              </a:rPr>
              <a:t>Suppliers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2926080" y="5705856"/>
            <a:ext cx="502920" cy="0"/>
          </a:xfrm>
          <a:prstGeom prst="line">
            <a:avLst/>
          </a:prstGeom>
          <a:noFill/>
          <a:ln w="15875">
            <a:solidFill>
              <a:srgbClr val="F29BC3"/>
            </a:solidFill>
            <a:prstDash val="solid"/>
            <a:tailEnd type="triangle"/>
          </a:ln>
        </p:spPr>
      </p:sp>
      <p:sp>
        <p:nvSpPr>
          <p:cNvPr id="31" name="Shape 24"/>
          <p:cNvSpPr/>
          <p:nvPr/>
        </p:nvSpPr>
        <p:spPr>
          <a:xfrm>
            <a:off x="9262872" y="2148840"/>
            <a:ext cx="246888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9372600" y="2286000"/>
            <a:ext cx="457200" cy="457200"/>
          </a:xfrm>
          <a:prstGeom prst="ellipse">
            <a:avLst/>
          </a:prstGeom>
          <a:solidFill>
            <a:srgbClr val="E9F0FA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6900" y="2400300"/>
            <a:ext cx="228600" cy="2286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921240" y="21488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433"/>
                </a:solidFill>
              </a:rPr>
              <a:t>Bangladesh office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8759952" y="2514600"/>
            <a:ext cx="502920" cy="0"/>
          </a:xfrm>
          <a:prstGeom prst="line">
            <a:avLst/>
          </a:prstGeom>
          <a:noFill/>
          <a:ln w="15875">
            <a:solidFill>
              <a:srgbClr val="9DBCE8"/>
            </a:solidFill>
            <a:prstDash val="solid"/>
            <a:headEnd type="triangle"/>
            <a:tailEnd type="triangle"/>
          </a:ln>
        </p:spPr>
      </p:sp>
      <p:sp>
        <p:nvSpPr>
          <p:cNvPr id="36" name="Shape 28"/>
          <p:cNvSpPr/>
          <p:nvPr/>
        </p:nvSpPr>
        <p:spPr>
          <a:xfrm>
            <a:off x="9262872" y="3172968"/>
            <a:ext cx="246888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9372600" y="3310128"/>
            <a:ext cx="457200" cy="457200"/>
          </a:xfrm>
          <a:prstGeom prst="ellipse">
            <a:avLst/>
          </a:prstGeom>
          <a:solidFill>
            <a:srgbClr val="E9F0FA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6900" y="3424428"/>
            <a:ext cx="228600" cy="22860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9921240" y="3172968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433"/>
                </a:solidFill>
              </a:rPr>
              <a:t>Thailand office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8759952" y="3538728"/>
            <a:ext cx="502920" cy="0"/>
          </a:xfrm>
          <a:prstGeom prst="line">
            <a:avLst/>
          </a:prstGeom>
          <a:noFill/>
          <a:ln w="15875">
            <a:solidFill>
              <a:srgbClr val="9DBCE8"/>
            </a:solidFill>
            <a:prstDash val="solid"/>
            <a:headEnd type="triangle"/>
            <a:tailEnd type="triangle"/>
          </a:ln>
        </p:spPr>
      </p:sp>
      <p:sp>
        <p:nvSpPr>
          <p:cNvPr id="41" name="Shape 32"/>
          <p:cNvSpPr/>
          <p:nvPr/>
        </p:nvSpPr>
        <p:spPr>
          <a:xfrm>
            <a:off x="9262872" y="4197096"/>
            <a:ext cx="246888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9372600" y="4334256"/>
            <a:ext cx="457200" cy="457200"/>
          </a:xfrm>
          <a:prstGeom prst="ellipse">
            <a:avLst/>
          </a:prstGeom>
          <a:solidFill>
            <a:srgbClr val="E9F0FA"/>
          </a:solidFill>
          <a:ln/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6900" y="4448556"/>
            <a:ext cx="228600" cy="228600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9921240" y="4197096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433"/>
                </a:solidFill>
              </a:rPr>
              <a:t>Accounts</a:t>
            </a:r>
            <a:endParaRPr lang="en-US" sz="1100" dirty="0"/>
          </a:p>
        </p:txBody>
      </p:sp>
      <p:sp>
        <p:nvSpPr>
          <p:cNvPr id="45" name="Shape 35"/>
          <p:cNvSpPr/>
          <p:nvPr/>
        </p:nvSpPr>
        <p:spPr>
          <a:xfrm>
            <a:off x="8759952" y="4562856"/>
            <a:ext cx="502920" cy="0"/>
          </a:xfrm>
          <a:prstGeom prst="line">
            <a:avLst/>
          </a:prstGeom>
          <a:noFill/>
          <a:ln w="15875">
            <a:solidFill>
              <a:srgbClr val="9DBCE8"/>
            </a:solidFill>
            <a:prstDash val="solid"/>
            <a:headEnd type="triangle"/>
            <a:tailEnd type="triangle"/>
          </a:ln>
        </p:spPr>
      </p:sp>
      <p:sp>
        <p:nvSpPr>
          <p:cNvPr id="46" name="Shape 36"/>
          <p:cNvSpPr/>
          <p:nvPr/>
        </p:nvSpPr>
        <p:spPr>
          <a:xfrm>
            <a:off x="9262872" y="5221224"/>
            <a:ext cx="246888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9372600" y="5358384"/>
            <a:ext cx="457200" cy="457200"/>
          </a:xfrm>
          <a:prstGeom prst="ellipse">
            <a:avLst/>
          </a:prstGeom>
          <a:solidFill>
            <a:srgbClr val="E9F0FA"/>
          </a:solidFill>
          <a:ln/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86900" y="5472684"/>
            <a:ext cx="228600" cy="228600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9921240" y="5221224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433"/>
                </a:solidFill>
              </a:rPr>
              <a:t>Management</a:t>
            </a:r>
            <a:endParaRPr lang="en-US" sz="1100" dirty="0"/>
          </a:p>
        </p:txBody>
      </p:sp>
      <p:sp>
        <p:nvSpPr>
          <p:cNvPr id="50" name="Shape 39"/>
          <p:cNvSpPr/>
          <p:nvPr/>
        </p:nvSpPr>
        <p:spPr>
          <a:xfrm>
            <a:off x="8759952" y="5586984"/>
            <a:ext cx="502920" cy="0"/>
          </a:xfrm>
          <a:prstGeom prst="line">
            <a:avLst/>
          </a:prstGeom>
          <a:noFill/>
          <a:ln w="15875">
            <a:solidFill>
              <a:srgbClr val="9DBCE8"/>
            </a:solidFill>
            <a:prstDash val="solid"/>
            <a:headEnd type="triangle"/>
            <a:tailEnd type="triangle"/>
          </a:ln>
        </p:spPr>
      </p:sp>
      <p:sp>
        <p:nvSpPr>
          <p:cNvPr id="51" name="Shape 40"/>
          <p:cNvSpPr/>
          <p:nvPr/>
        </p:nvSpPr>
        <p:spPr>
          <a:xfrm>
            <a:off x="3429000" y="1600200"/>
            <a:ext cx="5330952" cy="4663440"/>
          </a:xfrm>
          <a:prstGeom prst="roundRect">
            <a:avLst>
              <a:gd name="adj" fmla="val 2745"/>
            </a:avLst>
          </a:prstGeom>
          <a:solidFill>
            <a:srgbClr val="1B2440"/>
          </a:solidFill>
          <a:ln/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pic>
        <p:nvPicPr>
          <p:cNvPr id="52" name="Image 9" descr="/private/tmp/claude-501/-Users-ghost-Programming-Web-thaiMedics/a31d3b18-7cff-49d8-bfc3-4f872109e82c/scratchpad/assets/logo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03320" y="1828800"/>
            <a:ext cx="868680" cy="403250"/>
          </a:xfrm>
          <a:prstGeom prst="rect">
            <a:avLst/>
          </a:prstGeom>
        </p:spPr>
      </p:pic>
      <p:sp>
        <p:nvSpPr>
          <p:cNvPr id="53" name="Text 41"/>
          <p:cNvSpPr txBox="1"/>
          <p:nvPr/>
        </p:nvSpPr>
        <p:spPr>
          <a:xfrm>
            <a:off x="4709160" y="18013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Thai Medical Desk</a:t>
            </a:r>
            <a:endParaRPr lang="en-US" sz="1600" dirty="0"/>
          </a:p>
        </p:txBody>
      </p:sp>
      <p:sp>
        <p:nvSpPr>
          <p:cNvPr id="54" name="Text 42"/>
          <p:cNvSpPr txBox="1"/>
          <p:nvPr/>
        </p:nvSpPr>
        <p:spPr>
          <a:xfrm>
            <a:off x="4709160" y="21122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E3"/>
                </a:solidFill>
              </a:rPr>
              <a:t>one case file · one calendar · one account</a:t>
            </a:r>
            <a:endParaRPr lang="en-US" sz="1000" dirty="0"/>
          </a:p>
        </p:txBody>
      </p:sp>
      <p:sp>
        <p:nvSpPr>
          <p:cNvPr id="55" name="Shape 43"/>
          <p:cNvSpPr/>
          <p:nvPr/>
        </p:nvSpPr>
        <p:spPr>
          <a:xfrm>
            <a:off x="3703320" y="2560320"/>
            <a:ext cx="2299716" cy="1463040"/>
          </a:xfrm>
          <a:prstGeom prst="roundRect">
            <a:avLst>
              <a:gd name="adj" fmla="val 6250"/>
            </a:avLst>
          </a:prstGeom>
          <a:solidFill>
            <a:srgbClr val="263257"/>
          </a:solidFill>
          <a:ln/>
        </p:spPr>
      </p:sp>
      <p:sp>
        <p:nvSpPr>
          <p:cNvPr id="56" name="Text 44"/>
          <p:cNvSpPr txBox="1"/>
          <p:nvPr/>
        </p:nvSpPr>
        <p:spPr>
          <a:xfrm>
            <a:off x="3867912" y="2670048"/>
            <a:ext cx="2025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29BC3"/>
                </a:solidFill>
              </a:rPr>
              <a:t>Partner network</a:t>
            </a:r>
            <a:endParaRPr lang="en-US" sz="1150" dirty="0"/>
          </a:p>
        </p:txBody>
      </p:sp>
      <p:sp>
        <p:nvSpPr>
          <p:cNvPr id="57" name="Text 45"/>
          <p:cNvSpPr txBox="1"/>
          <p:nvPr/>
        </p:nvSpPr>
        <p:spPr>
          <a:xfrm>
            <a:off x="3867912" y="3017520"/>
            <a:ext cx="20253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</a:rPr>
              <a:t>Hospital directory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</a:rPr>
              <a:t>Doctor management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</a:rPr>
              <a:t>Agent network</a:t>
            </a:r>
            <a:endParaRPr lang="en-US" sz="1000" dirty="0"/>
          </a:p>
        </p:txBody>
      </p:sp>
      <p:sp>
        <p:nvSpPr>
          <p:cNvPr id="58" name="Shape 46"/>
          <p:cNvSpPr/>
          <p:nvPr/>
        </p:nvSpPr>
        <p:spPr>
          <a:xfrm>
            <a:off x="6185916" y="2560320"/>
            <a:ext cx="2299716" cy="1463040"/>
          </a:xfrm>
          <a:prstGeom prst="roundRect">
            <a:avLst>
              <a:gd name="adj" fmla="val 6250"/>
            </a:avLst>
          </a:prstGeom>
          <a:solidFill>
            <a:srgbClr val="263257"/>
          </a:solidFill>
          <a:ln/>
        </p:spPr>
      </p:sp>
      <p:sp>
        <p:nvSpPr>
          <p:cNvPr id="59" name="Text 47"/>
          <p:cNvSpPr txBox="1"/>
          <p:nvPr/>
        </p:nvSpPr>
        <p:spPr>
          <a:xfrm>
            <a:off x="6350508" y="2670048"/>
            <a:ext cx="2025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DBCE8"/>
                </a:solidFill>
              </a:rPr>
              <a:t>Patient journey</a:t>
            </a:r>
            <a:endParaRPr lang="en-US" sz="1150" dirty="0"/>
          </a:p>
        </p:txBody>
      </p:sp>
      <p:sp>
        <p:nvSpPr>
          <p:cNvPr id="60" name="Text 48"/>
          <p:cNvSpPr txBox="1"/>
          <p:nvPr/>
        </p:nvSpPr>
        <p:spPr>
          <a:xfrm>
            <a:off x="6350508" y="3017520"/>
            <a:ext cx="20253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</a:rPr>
              <a:t>Lead &amp; inquiry hub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</a:rPr>
              <a:t>Medical visa desk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</a:rPr>
              <a:t>Patient &amp; family portal</a:t>
            </a:r>
            <a:endParaRPr lang="en-US" sz="1000" dirty="0"/>
          </a:p>
        </p:txBody>
      </p:sp>
      <p:sp>
        <p:nvSpPr>
          <p:cNvPr id="61" name="Shape 49"/>
          <p:cNvSpPr/>
          <p:nvPr/>
        </p:nvSpPr>
        <p:spPr>
          <a:xfrm>
            <a:off x="3703320" y="4187952"/>
            <a:ext cx="2299716" cy="1463040"/>
          </a:xfrm>
          <a:prstGeom prst="roundRect">
            <a:avLst>
              <a:gd name="adj" fmla="val 6250"/>
            </a:avLst>
          </a:prstGeom>
          <a:solidFill>
            <a:srgbClr val="263257"/>
          </a:solidFill>
          <a:ln/>
        </p:spPr>
      </p:sp>
      <p:sp>
        <p:nvSpPr>
          <p:cNvPr id="62" name="Text 50"/>
          <p:cNvSpPr txBox="1"/>
          <p:nvPr/>
        </p:nvSpPr>
        <p:spPr>
          <a:xfrm>
            <a:off x="3867912" y="4297680"/>
            <a:ext cx="2025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7DD3E3"/>
                </a:solidFill>
              </a:rPr>
              <a:t>Service delivery</a:t>
            </a:r>
            <a:endParaRPr lang="en-US" sz="1150" dirty="0"/>
          </a:p>
        </p:txBody>
      </p:sp>
      <p:sp>
        <p:nvSpPr>
          <p:cNvPr id="63" name="Text 51"/>
          <p:cNvSpPr txBox="1"/>
          <p:nvPr/>
        </p:nvSpPr>
        <p:spPr>
          <a:xfrm>
            <a:off x="3867912" y="4645152"/>
            <a:ext cx="20253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</a:rPr>
              <a:t>Packages &amp; quote compare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</a:rPr>
              <a:t>Supplier &amp; vendor hub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</a:rPr>
              <a:t>Thailand ground services</a:t>
            </a:r>
            <a:endParaRPr lang="en-US" sz="1000" dirty="0"/>
          </a:p>
        </p:txBody>
      </p:sp>
      <p:sp>
        <p:nvSpPr>
          <p:cNvPr id="64" name="Shape 52"/>
          <p:cNvSpPr/>
          <p:nvPr/>
        </p:nvSpPr>
        <p:spPr>
          <a:xfrm>
            <a:off x="6185916" y="4187952"/>
            <a:ext cx="2299716" cy="1463040"/>
          </a:xfrm>
          <a:prstGeom prst="roundRect">
            <a:avLst>
              <a:gd name="adj" fmla="val 6250"/>
            </a:avLst>
          </a:prstGeom>
          <a:solidFill>
            <a:srgbClr val="263257"/>
          </a:solidFill>
          <a:ln/>
        </p:spPr>
      </p:sp>
      <p:sp>
        <p:nvSpPr>
          <p:cNvPr id="65" name="Text 53"/>
          <p:cNvSpPr txBox="1"/>
          <p:nvPr/>
        </p:nvSpPr>
        <p:spPr>
          <a:xfrm>
            <a:off x="6350508" y="4297680"/>
            <a:ext cx="2025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2C77A"/>
                </a:solidFill>
              </a:rPr>
              <a:t>Care &amp; growth</a:t>
            </a:r>
            <a:endParaRPr lang="en-US" sz="1150" dirty="0"/>
          </a:p>
        </p:txBody>
      </p:sp>
      <p:sp>
        <p:nvSpPr>
          <p:cNvPr id="66" name="Text 54"/>
          <p:cNvSpPr txBox="1"/>
          <p:nvPr/>
        </p:nvSpPr>
        <p:spPr>
          <a:xfrm>
            <a:off x="6350508" y="4645152"/>
            <a:ext cx="20253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</a:rPr>
              <a:t>Aftercare &amp; feedback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</a:rPr>
              <a:t>Messaging &amp; reminders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</a:rPr>
              <a:t>Reports &amp; analytics</a:t>
            </a:r>
            <a:endParaRPr lang="en-US" sz="1000" dirty="0"/>
          </a:p>
        </p:txBody>
      </p:sp>
      <p:sp>
        <p:nvSpPr>
          <p:cNvPr id="67" name="Shape 55"/>
          <p:cNvSpPr/>
          <p:nvPr/>
        </p:nvSpPr>
        <p:spPr>
          <a:xfrm>
            <a:off x="3703320" y="5696712"/>
            <a:ext cx="4782312" cy="347472"/>
          </a:xfrm>
          <a:prstGeom prst="roundRect">
            <a:avLst>
              <a:gd name="adj" fmla="val 50000"/>
            </a:avLst>
          </a:prstGeom>
          <a:solidFill>
            <a:srgbClr val="B92F6E"/>
          </a:solidFill>
          <a:ln/>
        </p:spPr>
      </p:sp>
      <p:sp>
        <p:nvSpPr>
          <p:cNvPr id="68" name="Text 56"/>
          <p:cNvSpPr txBox="1"/>
          <p:nvPr/>
        </p:nvSpPr>
        <p:spPr>
          <a:xfrm>
            <a:off x="3703320" y="5696712"/>
            <a:ext cx="4782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Today: Dashboard · Cases · Calendar · Billing · Staff · Audit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3840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92F6E"/>
                </a:solidFill>
              </a:rPr>
              <a:t>SUGGESTED ORDER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433"/>
                </a:solidFill>
              </a:rPr>
              <a:t>Build in three waves, partners first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60549" y="1874520"/>
            <a:ext cx="7670597" cy="0"/>
          </a:xfrm>
          <a:prstGeom prst="line">
            <a:avLst/>
          </a:prstGeom>
          <a:noFill/>
          <a:ln w="254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86229" y="1600200"/>
            <a:ext cx="548640" cy="548640"/>
          </a:xfrm>
          <a:prstGeom prst="ellipse">
            <a:avLst/>
          </a:prstGeom>
          <a:solidFill>
            <a:srgbClr val="B92F6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86229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3606698" cy="3886200"/>
          </a:xfrm>
          <a:prstGeom prst="roundRect">
            <a:avLst>
              <a:gd name="adj" fmla="val 3549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2578608"/>
            <a:ext cx="3058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92F6E"/>
                </a:solidFill>
              </a:rPr>
              <a:t>WAVE 1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834640"/>
            <a:ext cx="30580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433"/>
                </a:solidFill>
              </a:rPr>
              <a:t>Partners &amp; visas</a:t>
            </a:r>
            <a:endParaRPr lang="en-US" sz="1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41071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51560" y="3364992"/>
            <a:ext cx="27837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433"/>
                </a:solidFill>
              </a:rPr>
              <a:t>Hospital directory</a:t>
            </a:r>
            <a:endParaRPr lang="en-US" sz="11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79476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51560" y="3749040"/>
            <a:ext cx="27837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433"/>
                </a:solidFill>
              </a:rPr>
              <a:t>Doctor management</a:t>
            </a:r>
            <a:endParaRPr lang="en-US" sz="11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78808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51560" y="4133088"/>
            <a:ext cx="27837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433"/>
                </a:solidFill>
              </a:rPr>
              <a:t>Agent network</a:t>
            </a:r>
            <a:endParaRPr lang="en-US" sz="11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62856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51560" y="4517136"/>
            <a:ext cx="27837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433"/>
                </a:solidFill>
              </a:rPr>
              <a:t>Medical visa desk</a:t>
            </a:r>
            <a:endParaRPr lang="en-US" sz="11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946904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51560" y="4901184"/>
            <a:ext cx="27837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433"/>
                </a:solidFill>
              </a:rPr>
              <a:t>Quick wins on today's screens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640080" y="5413248"/>
            <a:ext cx="3240938" cy="685800"/>
          </a:xfrm>
          <a:prstGeom prst="roundRect">
            <a:avLst>
              <a:gd name="adj" fmla="val 13333"/>
            </a:avLst>
          </a:prstGeom>
          <a:solidFill>
            <a:srgbClr val="FBEAF2"/>
          </a:solidFill>
          <a:ln/>
        </p:spPr>
      </p:sp>
      <p:sp>
        <p:nvSpPr>
          <p:cNvPr id="21" name="Text 14"/>
          <p:cNvSpPr txBox="1"/>
          <p:nvPr/>
        </p:nvSpPr>
        <p:spPr>
          <a:xfrm>
            <a:off x="777240" y="5413248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433"/>
                </a:solidFill>
              </a:rPr>
              <a:t>Biggest daily pain; every later module builds on this partner data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5821528" y="1600200"/>
            <a:ext cx="548640" cy="548640"/>
          </a:xfrm>
          <a:prstGeom prst="ellipse">
            <a:avLst/>
          </a:prstGeom>
          <a:solidFill>
            <a:srgbClr val="3566A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5821528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4292498" y="2377440"/>
            <a:ext cx="3606698" cy="3886200"/>
          </a:xfrm>
          <a:prstGeom prst="roundRect">
            <a:avLst>
              <a:gd name="adj" fmla="val 3549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25" name="Text 18"/>
          <p:cNvSpPr txBox="1"/>
          <p:nvPr/>
        </p:nvSpPr>
        <p:spPr>
          <a:xfrm>
            <a:off x="4566818" y="2578608"/>
            <a:ext cx="3058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566AC"/>
                </a:solidFill>
              </a:rPr>
              <a:t>WAVE 2</a:t>
            </a:r>
            <a:endParaRPr lang="en-US" sz="1050" dirty="0"/>
          </a:p>
        </p:txBody>
      </p:sp>
      <p:sp>
        <p:nvSpPr>
          <p:cNvPr id="26" name="Text 19"/>
          <p:cNvSpPr txBox="1"/>
          <p:nvPr/>
        </p:nvSpPr>
        <p:spPr>
          <a:xfrm>
            <a:off x="4566818" y="2834640"/>
            <a:ext cx="30580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433"/>
                </a:solidFill>
              </a:rPr>
              <a:t>Faster service</a:t>
            </a:r>
            <a:endParaRPr lang="en-US" sz="18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6818" y="3410712"/>
            <a:ext cx="219456" cy="219456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886858" y="3364992"/>
            <a:ext cx="27837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433"/>
                </a:solidFill>
              </a:rPr>
              <a:t>Lead &amp; inquiry hub</a:t>
            </a:r>
            <a:endParaRPr lang="en-US" sz="115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6818" y="3794760"/>
            <a:ext cx="219456" cy="219456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4886858" y="3749040"/>
            <a:ext cx="27837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433"/>
                </a:solidFill>
              </a:rPr>
              <a:t>Messaging &amp; reminders</a:t>
            </a:r>
            <a:endParaRPr lang="en-US" sz="11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6818" y="4178808"/>
            <a:ext cx="219456" cy="219456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4886858" y="4133088"/>
            <a:ext cx="27837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433"/>
                </a:solidFill>
              </a:rPr>
              <a:t>Packages &amp; quote comparison</a:t>
            </a:r>
            <a:endParaRPr lang="en-US" sz="115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6818" y="4562856"/>
            <a:ext cx="219456" cy="219456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4886858" y="4517136"/>
            <a:ext cx="27837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433"/>
                </a:solidFill>
              </a:rPr>
              <a:t>Supplier &amp; vendor hub</a:t>
            </a:r>
            <a:endParaRPr lang="en-US" sz="1150" dirty="0"/>
          </a:p>
        </p:txBody>
      </p:sp>
      <p:sp>
        <p:nvSpPr>
          <p:cNvPr id="35" name="Shape 24"/>
          <p:cNvSpPr/>
          <p:nvPr/>
        </p:nvSpPr>
        <p:spPr>
          <a:xfrm>
            <a:off x="4475378" y="5413248"/>
            <a:ext cx="3240938" cy="685800"/>
          </a:xfrm>
          <a:prstGeom prst="roundRect">
            <a:avLst>
              <a:gd name="adj" fmla="val 13333"/>
            </a:avLst>
          </a:prstGeom>
          <a:solidFill>
            <a:srgbClr val="E9F0FA"/>
          </a:solidFill>
          <a:ln/>
        </p:spPr>
      </p:sp>
      <p:sp>
        <p:nvSpPr>
          <p:cNvPr id="36" name="Text 25"/>
          <p:cNvSpPr txBox="1"/>
          <p:nvPr/>
        </p:nvSpPr>
        <p:spPr>
          <a:xfrm>
            <a:off x="4612538" y="5413248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433"/>
                </a:solidFill>
              </a:rPr>
              <a:t>Faster replies and quotes, with nothing lost between channels</a:t>
            </a:r>
            <a:endParaRPr lang="en-US" sz="1000" dirty="0"/>
          </a:p>
        </p:txBody>
      </p:sp>
      <p:sp>
        <p:nvSpPr>
          <p:cNvPr id="37" name="Shape 26"/>
          <p:cNvSpPr/>
          <p:nvPr/>
        </p:nvSpPr>
        <p:spPr>
          <a:xfrm>
            <a:off x="9656826" y="1600200"/>
            <a:ext cx="548640" cy="548640"/>
          </a:xfrm>
          <a:prstGeom prst="ellipse">
            <a:avLst/>
          </a:prstGeom>
          <a:solidFill>
            <a:srgbClr val="B7791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8" name="Text 27"/>
          <p:cNvSpPr txBox="1"/>
          <p:nvPr/>
        </p:nvSpPr>
        <p:spPr>
          <a:xfrm>
            <a:off x="9656826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39" name="Shape 28"/>
          <p:cNvSpPr/>
          <p:nvPr/>
        </p:nvSpPr>
        <p:spPr>
          <a:xfrm>
            <a:off x="8127797" y="2377440"/>
            <a:ext cx="3606698" cy="3886200"/>
          </a:xfrm>
          <a:prstGeom prst="roundRect">
            <a:avLst>
              <a:gd name="adj" fmla="val 3549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1828">
                <a:alpha val="10000"/>
              </a:srgbClr>
            </a:outerShdw>
          </a:effectLst>
        </p:spPr>
      </p:sp>
      <p:sp>
        <p:nvSpPr>
          <p:cNvPr id="40" name="Text 29"/>
          <p:cNvSpPr txBox="1"/>
          <p:nvPr/>
        </p:nvSpPr>
        <p:spPr>
          <a:xfrm>
            <a:off x="8402117" y="2578608"/>
            <a:ext cx="3058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7791F"/>
                </a:solidFill>
              </a:rPr>
              <a:t>WAVE 3</a:t>
            </a:r>
            <a:endParaRPr lang="en-US" sz="1050" dirty="0"/>
          </a:p>
        </p:txBody>
      </p:sp>
      <p:sp>
        <p:nvSpPr>
          <p:cNvPr id="41" name="Text 30"/>
          <p:cNvSpPr txBox="1"/>
          <p:nvPr/>
        </p:nvSpPr>
        <p:spPr>
          <a:xfrm>
            <a:off x="8402117" y="2834640"/>
            <a:ext cx="30580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433"/>
                </a:solidFill>
              </a:rPr>
              <a:t>Experience &amp; insight</a:t>
            </a:r>
            <a:endParaRPr lang="en-US" sz="1800" dirty="0"/>
          </a:p>
        </p:txBody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02117" y="3410712"/>
            <a:ext cx="219456" cy="219456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8722157" y="3364992"/>
            <a:ext cx="27837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433"/>
                </a:solidFill>
              </a:rPr>
              <a:t>Patient &amp; family portal</a:t>
            </a:r>
            <a:endParaRPr lang="en-US" sz="1150" dirty="0"/>
          </a:p>
        </p:txBody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02117" y="3794760"/>
            <a:ext cx="219456" cy="219456"/>
          </a:xfrm>
          <a:prstGeom prst="rect">
            <a:avLst/>
          </a:prstGeom>
        </p:spPr>
      </p:pic>
      <p:sp>
        <p:nvSpPr>
          <p:cNvPr id="45" name="Text 32"/>
          <p:cNvSpPr txBox="1"/>
          <p:nvPr/>
        </p:nvSpPr>
        <p:spPr>
          <a:xfrm>
            <a:off x="8722157" y="3749040"/>
            <a:ext cx="27837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433"/>
                </a:solidFill>
              </a:rPr>
              <a:t>Thailand ground services</a:t>
            </a:r>
            <a:endParaRPr lang="en-US" sz="1150" dirty="0"/>
          </a:p>
        </p:txBody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02117" y="4178808"/>
            <a:ext cx="219456" cy="219456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8722157" y="4133088"/>
            <a:ext cx="27837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433"/>
                </a:solidFill>
              </a:rPr>
              <a:t>Aftercare &amp; feedback</a:t>
            </a:r>
            <a:endParaRPr lang="en-US" sz="1150" dirty="0"/>
          </a:p>
        </p:txBody>
      </p:sp>
      <p:pic>
        <p:nvPicPr>
          <p:cNvPr id="4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02117" y="4562856"/>
            <a:ext cx="219456" cy="219456"/>
          </a:xfrm>
          <a:prstGeom prst="rect">
            <a:avLst/>
          </a:prstGeom>
        </p:spPr>
      </p:pic>
      <p:sp>
        <p:nvSpPr>
          <p:cNvPr id="49" name="Text 34"/>
          <p:cNvSpPr txBox="1"/>
          <p:nvPr/>
        </p:nvSpPr>
        <p:spPr>
          <a:xfrm>
            <a:off x="8722157" y="4517136"/>
            <a:ext cx="27837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433"/>
                </a:solidFill>
              </a:rPr>
              <a:t>Reports &amp; analytics</a:t>
            </a:r>
            <a:endParaRPr lang="en-US" sz="1150" dirty="0"/>
          </a:p>
        </p:txBody>
      </p:sp>
      <p:sp>
        <p:nvSpPr>
          <p:cNvPr id="50" name="Shape 35"/>
          <p:cNvSpPr/>
          <p:nvPr/>
        </p:nvSpPr>
        <p:spPr>
          <a:xfrm>
            <a:off x="8310677" y="5413248"/>
            <a:ext cx="3240938" cy="685800"/>
          </a:xfrm>
          <a:prstGeom prst="roundRect">
            <a:avLst>
              <a:gd name="adj" fmla="val 13333"/>
            </a:avLst>
          </a:prstGeom>
          <a:solidFill>
            <a:srgbClr val="FDF4E3"/>
          </a:solidFill>
          <a:ln/>
        </p:spPr>
      </p:sp>
      <p:sp>
        <p:nvSpPr>
          <p:cNvPr id="51" name="Text 36"/>
          <p:cNvSpPr txBox="1"/>
          <p:nvPr/>
        </p:nvSpPr>
        <p:spPr>
          <a:xfrm>
            <a:off x="8447837" y="5413248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433"/>
                </a:solidFill>
              </a:rPr>
              <a:t>Uses the data gathered in waves 1–2 to serve patients and guide decisions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5171" y="365760"/>
            <a:ext cx="643738" cy="2011680"/>
          </a:xfrm>
          <a:prstGeom prst="rect">
            <a:avLst/>
          </a:prstGeom>
          <a:solidFill>
            <a:srgbClr val="B92F6E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1049731"/>
            <a:ext cx="2011680" cy="643738"/>
          </a:xfrm>
          <a:prstGeom prst="rect">
            <a:avLst/>
          </a:prstGeom>
          <a:solidFill>
            <a:srgbClr val="B92F6E">
              <a:alpha val="15000"/>
            </a:srgbClr>
          </a:solidFill>
          <a:ln/>
        </p:spPr>
      </p:sp>
      <p:pic>
        <p:nvPicPr>
          <p:cNvPr id="4" name="Image 0" descr="/private/tmp/claude-501/-Users-ghost-Programming-Web-thaiMedics/a31d3b18-7cff-49d8-bfc3-4f872109e82c/scratchpad/asse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1371600" cy="63733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600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9BC3"/>
                </a:solidFill>
              </a:rPr>
              <a:t>NEXT STEPS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920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Let's finalise the module list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40080" y="3154680"/>
            <a:ext cx="3484778" cy="2331720"/>
          </a:xfrm>
          <a:prstGeom prst="roundRect">
            <a:avLst>
              <a:gd name="adj" fmla="val 549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337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92F6E"/>
                </a:solidFill>
              </a:rPr>
              <a:t>01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977640"/>
            <a:ext cx="2936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Walk the prototype with both offices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663440"/>
            <a:ext cx="29361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1E3"/>
                </a:solidFill>
              </a:rPr>
              <a:t>Confirm the 8 stages, fields and roles match daily work in Dhaka and Bangkok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53458" y="3154680"/>
            <a:ext cx="3484778" cy="2331720"/>
          </a:xfrm>
          <a:prstGeom prst="roundRect">
            <a:avLst>
              <a:gd name="adj" fmla="val 549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27778" y="3337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92F6E"/>
                </a:solidFill>
              </a:rPr>
              <a:t>02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4627778" y="3977640"/>
            <a:ext cx="2936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Agree the 12 modules and their order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627778" y="4663440"/>
            <a:ext cx="29361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1E3"/>
                </a:solidFill>
              </a:rPr>
              <a:t>Mark each one must-have, next or later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066837" y="3154680"/>
            <a:ext cx="3484778" cy="2331720"/>
          </a:xfrm>
          <a:prstGeom prst="roundRect">
            <a:avLst>
              <a:gd name="adj" fmla="val 549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341157" y="3337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92F6E"/>
                </a:solidFill>
              </a:rPr>
              <a:t>03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8341157" y="3977640"/>
            <a:ext cx="2936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Design the Wave 1 screens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341157" y="4663440"/>
            <a:ext cx="29361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1E3"/>
                </a:solidFill>
              </a:rPr>
              <a:t>Hospitals, doctors, agents and the visa desk, built on today's look and flow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Thank you</a:t>
            </a:r>
            <a:endParaRPr lang="en-US" sz="1600" dirty="0"/>
          </a:p>
        </p:txBody>
      </p:sp>
      <p:sp>
        <p:nvSpPr>
          <p:cNvPr id="21" name="Text 0"/>
          <p:cNvSpPr/>
          <p:nvPr>
            <p:ph idx="100" type="title" hasCustomPrompt="1"/>
          </p:nvPr>
        </p:nvSpPr>
        <p:spPr>
          <a:xfrm>
            <a:off x="640080" y="248716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4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ai Medics">
  <a:themeElements>
    <a:clrScheme name="Thai Medics">
      <a:dk1>
        <a:srgbClr val="1E2433"/>
      </a:dk1>
      <a:lt1>
        <a:srgbClr val="FFFFFF"/>
      </a:lt1>
      <a:dk2>
        <a:srgbClr val="141B2D"/>
      </a:dk2>
      <a:lt2>
        <a:srgbClr val="F5F6FA"/>
      </a:lt2>
      <a:accent1>
        <a:srgbClr val="B92F6E"/>
      </a:accent1>
      <a:accent2>
        <a:srgbClr val="3566AC"/>
      </a:accent2>
      <a:accent3>
        <a:srgbClr val="E3A23B"/>
      </a:accent3>
      <a:accent4>
        <a:srgbClr val="0E7490"/>
      </a:accent4>
      <a:accent5>
        <a:srgbClr val="15803D"/>
      </a:accent5>
      <a:accent6>
        <a:srgbClr val="7C3AED"/>
      </a:accent6>
      <a:hlink>
        <a:srgbClr val="3566AC"/>
      </a:hlink>
      <a:folHlink>
        <a:srgbClr val="9A2459"/>
      </a:folHlink>
    </a:clrScheme>
    <a:fontScheme name="Thai Medics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Thai Medics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Thai Medical Desk — Prototype walkthrough and module roadmap</dc:title>
  <dc:subject>PptxGenJS Presentation</dc:subject>
  <dc:creator>Thai Medics</dc:creator>
  <cp:lastModifiedBy>Thai Medics</cp:lastModifiedBy>
  <cp:revision>1</cp:revision>
  <dcterms:created xsi:type="dcterms:W3CDTF">2026-10-28T10:59:53Z</dcterms:created>
  <dcterms:modified xsi:type="dcterms:W3CDTF">2026-10-28T10:59:53Z</dcterms:modified>
</cp:coreProperties>
</file>